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26abe8506d48dd" /><Relationship Type="http://schemas.openxmlformats.org/officeDocument/2006/relationships/extended-properties" Target="/docProps/app.xml" Id="R03e6d86171ce41b3" /><Relationship Type="http://schemas.openxmlformats.org/officeDocument/2006/relationships/officeDocument" Target="/ppt/presentation.xml" Id="Rb023294ad2f44467" /></Relationships>
</file>

<file path=ppt/presentation.xml><?xml version="1.0" encoding="utf-8"?>
<p:presentation xmlns:p="http://schemas.openxmlformats.org/presentationml/2006/main">
  <p:sldMasterIdLst>
    <p:sldMasterId xmlns:r="http://schemas.openxmlformats.org/officeDocument/2006/relationships" id="2147483648" r:id="R5791cb9630b34cd3"/>
  </p:sldMasterIdLst>
  <p:notesMasterIdLst>
    <p:notesMasterId xmlns:r="http://schemas.openxmlformats.org/officeDocument/2006/relationships" r:id="R86cedc8a28ca4653"/>
  </p:notesMasterIdLst>
  <p:sldIdLst>
    <p:sldId xmlns:r="http://schemas.openxmlformats.org/officeDocument/2006/relationships" id="256" r:id="R8426430dbad242b3"/>
    <p:sldId xmlns:r="http://schemas.openxmlformats.org/officeDocument/2006/relationships" id="257" r:id="Rd8e6b6f95f7f4092"/>
    <p:sldId xmlns:r="http://schemas.openxmlformats.org/officeDocument/2006/relationships" id="258" r:id="R74ba9c8b0c8f4587"/>
    <p:sldId xmlns:r="http://schemas.openxmlformats.org/officeDocument/2006/relationships" id="259" r:id="R5cd70a144e40420c"/>
    <p:sldId xmlns:r="http://schemas.openxmlformats.org/officeDocument/2006/relationships" id="260" r:id="Rcd589665111e42a3"/>
    <p:sldId xmlns:r="http://schemas.openxmlformats.org/officeDocument/2006/relationships" id="261" r:id="Rb06d95ea7b1c4ca6"/>
    <p:sldId xmlns:r="http://schemas.openxmlformats.org/officeDocument/2006/relationships" id="262" r:id="Red94ae714da149bd"/>
    <p:sldId xmlns:r="http://schemas.openxmlformats.org/officeDocument/2006/relationships" id="263" r:id="R50ea931604864348"/>
    <p:sldId xmlns:r="http://schemas.openxmlformats.org/officeDocument/2006/relationships" id="264" r:id="R6c5185a1b26f4ac5"/>
    <p:sldId xmlns:r="http://schemas.openxmlformats.org/officeDocument/2006/relationships" id="265" r:id="R75c9dcaf267c4684"/>
    <p:sldId xmlns:r="http://schemas.openxmlformats.org/officeDocument/2006/relationships" id="266" r:id="Rdf6e11f6763f4678"/>
    <p:sldId xmlns:r="http://schemas.openxmlformats.org/officeDocument/2006/relationships" id="267" r:id="R4f9937d7d69c4c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d9f8b3b43b4052" /><Relationship Type="http://schemas.openxmlformats.org/officeDocument/2006/relationships/slideMaster" Target="/ppt/slideMasters/slideMaster1.xml" Id="R5791cb9630b34cd3" /><Relationship Type="http://schemas.openxmlformats.org/officeDocument/2006/relationships/notesMaster" Target="/ppt/notesMasters/notesMaster1.xml" Id="R86cedc8a28ca4653" /><Relationship Type="http://schemas.openxmlformats.org/officeDocument/2006/relationships/presProps" Target="/ppt/presProps.xml" Id="R0bc71714ce6443da" /><Relationship Type="http://schemas.openxmlformats.org/officeDocument/2006/relationships/tableStyles" Target="/ppt/tableStyles.xml" Id="Rb8f93baefc064bf9" /><Relationship Type="http://schemas.openxmlformats.org/officeDocument/2006/relationships/slide" Target="/ppt/slides/slide1.xml" Id="R8426430dbad242b3" /><Relationship Type="http://schemas.openxmlformats.org/officeDocument/2006/relationships/slide" Target="/ppt/slides/slide2.xml" Id="Rd8e6b6f95f7f4092" /><Relationship Type="http://schemas.openxmlformats.org/officeDocument/2006/relationships/slide" Target="/ppt/slides/slide3.xml" Id="R74ba9c8b0c8f4587" /><Relationship Type="http://schemas.openxmlformats.org/officeDocument/2006/relationships/slide" Target="/ppt/slides/slide4.xml" Id="R5cd70a144e40420c" /><Relationship Type="http://schemas.openxmlformats.org/officeDocument/2006/relationships/slide" Target="/ppt/slides/slide5.xml" Id="Rcd589665111e42a3" /><Relationship Type="http://schemas.openxmlformats.org/officeDocument/2006/relationships/slide" Target="/ppt/slides/slide6.xml" Id="Rb06d95ea7b1c4ca6" /><Relationship Type="http://schemas.openxmlformats.org/officeDocument/2006/relationships/slide" Target="/ppt/slides/slide7.xml" Id="Red94ae714da149bd" /><Relationship Type="http://schemas.openxmlformats.org/officeDocument/2006/relationships/slide" Target="/ppt/slides/slide8.xml" Id="R50ea931604864348" /><Relationship Type="http://schemas.openxmlformats.org/officeDocument/2006/relationships/slide" Target="/ppt/slides/slide9.xml" Id="R6c5185a1b26f4ac5" /><Relationship Type="http://schemas.openxmlformats.org/officeDocument/2006/relationships/slide" Target="/ppt/slides/slide10.xml" Id="R75c9dcaf267c4684" /><Relationship Type="http://schemas.openxmlformats.org/officeDocument/2006/relationships/slide" Target="/ppt/slides/slide11.xml" Id="Rdf6e11f6763f4678" /><Relationship Type="http://schemas.openxmlformats.org/officeDocument/2006/relationships/slide" Target="/ppt/slides/slide12.xml" Id="R4f9937d7d69c4c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407073626e4a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a09574fc524497" /><Relationship Type="http://schemas.openxmlformats.org/officeDocument/2006/relationships/notesMaster" Target="/ppt/notesMasters/notesMaster1.xml" Id="R6a86c2330b4446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dd58f8355443e8" /><Relationship Type="http://schemas.openxmlformats.org/officeDocument/2006/relationships/notesMaster" Target="/ppt/notesMasters/notesMaster1.xml" Id="R2c27d6c2eeef4f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f89187d3fc48ab" /><Relationship Type="http://schemas.openxmlformats.org/officeDocument/2006/relationships/notesMaster" Target="/ppt/notesMasters/notesMaster1.xml" Id="Ra15688b45cef4a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b9eceb52994709" /><Relationship Type="http://schemas.openxmlformats.org/officeDocument/2006/relationships/notesMaster" Target="/ppt/notesMasters/notesMaster1.xml" Id="Race618a143414e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0e177b2ad94abe" /><Relationship Type="http://schemas.openxmlformats.org/officeDocument/2006/relationships/notesMaster" Target="/ppt/notesMasters/notesMaster1.xml" Id="R9bcc816a58d540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57e1df248f45a1" /><Relationship Type="http://schemas.openxmlformats.org/officeDocument/2006/relationships/notesMaster" Target="/ppt/notesMasters/notesMaster1.xml" Id="R4a6f2b775a9944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a3a86ed3d04a2c" /><Relationship Type="http://schemas.openxmlformats.org/officeDocument/2006/relationships/notesMaster" Target="/ppt/notesMasters/notesMaster1.xml" Id="R135024884c7747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d63615c37b4bed" /><Relationship Type="http://schemas.openxmlformats.org/officeDocument/2006/relationships/notesMaster" Target="/ppt/notesMasters/notesMaster1.xml" Id="R27455d3107ab44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54f520de874dac" /><Relationship Type="http://schemas.openxmlformats.org/officeDocument/2006/relationships/notesMaster" Target="/ppt/notesMasters/notesMaster1.xml" Id="R4a0c6ba12d3d43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6fc7152e9c437b" /><Relationship Type="http://schemas.openxmlformats.org/officeDocument/2006/relationships/notesMaster" Target="/ppt/notesMasters/notesMaster1.xml" Id="R32d9a0231a6642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12d84616414356" /><Relationship Type="http://schemas.openxmlformats.org/officeDocument/2006/relationships/notesMaster" Target="/ppt/notesMasters/notesMaster1.xml" Id="R0ea23c743ceb4a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d111c755cc4d72" /><Relationship Type="http://schemas.openxmlformats.org/officeDocument/2006/relationships/notesMaster" Target="/ppt/notesMasters/notesMaster1.xml" Id="R24732441b6a045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0:20, running time 0:20</a:t>
            </a:r>
          </a:p>
          <a:p xmlns:a="http://schemas.openxmlformats.org/drawingml/2006/main">
            <a:r>
              <a:t>Hello everyone, I'm Sai Prashanth Chandramouli and I am a Staff Engineer at Meta Platforms. I wanted to spend some time talking about something that doesn't get enough air-time in transparency conversations: the privacy trade-offs of the systems we build to deliver transparency.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 running time 1:05</a:t>
            </a:r>
          </a:p>
          <a:p xmlns:a="http://schemas.openxmlformats.org/drawingml/2006/main">
            <a:r>
              <a:t>Before the privacy problem, a quick definition. Provenance is structured information about how a digital file was created or changed. C2PA is a leading industry standard for representing those claims in a signed manifest, often surfaced as Content Credentials. A verifier can check the signature and content binding, then decide whether to trust the signer and use the claims. This simplified manifest declares an AI-assisted edit and the tool involved. Depending on what a workflow chooses to include or inherit, it may also carry creator, device, time, or location data. C2PA does not require all of those fields. The privacy issue is what the workflow records, preserves, and reveals.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 running time 1:50</a:t>
            </a:r>
          </a:p>
          <a:p xmlns:a="http://schemas.openxmlformats.org/drawingml/2006/main">
            <a:r>
              <a:t>Imagine taking a photo on an advanced phone with provenance support and sending it privately to a friend. Many phones already use AI in the camera pipeline to adjust the image automatically for the best shot, even when the person taking it never explicitly invokes an AI feature. As manufacturers and editing tools add provenance support, this scenario becomes increasingly possible. Pick your favorite expensive rectangle. [cough] Brand names omitted to protect the innocent. You may know that AI performed color correction, but the recipient may need only one trust signal or none at all. The underlying system might still preserve identity, device, time, or location metadata for provenance and attribution use-cases. Those disclosures are not inevitable. They appear when a workflow includes them or preserves them from existing metadata. This may sound like a theoretical edge case. It is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0:40, running time 2:30</a:t>
            </a:r>
          </a:p>
          <a:p xmlns:a="http://schemas.openxmlformats.org/drawingml/2006/main">
            <a:r>
              <a:t>Provenance-based AI marking and detection now constitute a meaningful part of public AI tools. We generated this corpus through public-facing APIs and web apps, using synthetic, non-user prompts and one hundred thousand outputs per tool. That makes the exercise reproducible without privileged product access: an external researcher can sample the same public surfaces and inspect the resulting files. Across one million image, video, and text outputs from ten public AI tools, more than fourteen percent had conformant C2PA packets with readable AI provenance. The full method still separates detection, parsing, signature validation, content binding, and signer trust because those are distinct states. Now raise the stakes: what if the sender is a whistleblower and the photograph reaches a newsroom?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 running time 3:20</a:t>
            </a:r>
          </a:p>
          <a:p xmlns:a="http://schemas.openxmlformats.org/drawingml/2006/main">
            <a:r>
              <a:t>Now consider a whistleblower who sends a photograph to a newsroom. This is a simplified JSON reader view, not a canonical manifest dump. The actions help the newsroom establish that the asset began as a digital capture and later received an automatic color adjustment. The metadata raises a different question. C2PA does not require a personal name, GPS coordinates, capture time, or device serial number. An implementation may include supported metadata for provenance or attribution. Once signed and carried with the asset, those fields can identify or help correlate a confidential source. The newsroom can inspect the rich record privately, then publish only a narrow attestation. The same record supports private verification and creates public exposure. That is the transparency paradox.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 running time 4:10</a:t>
            </a:r>
          </a:p>
          <a:p xmlns:a="http://schemas.openxmlformats.org/drawingml/2006/main">
            <a:r>
              <a:t>Treat these as three separate decisions. Validation asks whether the record passes technical checks: can it be parsed, do the signature and content binding validate, and is the signer trusted under the applicable policy? Disclosure asks which validated claims a verifier needs and who may receive them. Propagation asks what persists when content is copied, edited, or reposted. California has enacted an anti-stripping rule for standards-compliant system provenance and digital signatures on large platforms, operative in 2027. It does not require every field to be copied unchanged or publicly exposed. The EU AI Act likewise requires machine-readable marking and certain disclosures, not full-manifest relay. [Optional: anti-stripping is the statutory term; disappointingly, it is about metadata.] Compliance still needs purpose, authorization, and data minimization.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 running time 5:20</a:t>
            </a:r>
          </a:p>
          <a:p xmlns:a="http://schemas.openxmlformats.org/drawingml/2006/main">
            <a:r>
              <a:t>Spend the most time here. Walk from a narrow binary signal to a restricted full chain. Emphasize that each tier supplies only the information needed for its task. These definitions preserve the accepted abstract's Tier 0 through Tier 3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0:55, running time 6:15</a:t>
            </a:r>
          </a:p>
          <a:p xmlns:a="http://schemas.openxmlformats.org/drawingml/2006/main">
            <a:r>
              <a:t>Treat provenance the same way you would treat any untrusted user data. Parse it defensively. Validate the signature and content binding before relying on it. Minimize which fields enter the next system, and never convert a technically valid record into broad authorization. The four steps on this slide turn that posture into policy: define the integrity question, choose the minimum tier, enforce purpose and retention, then log any governed escalation. Richer access requires authentication and an auditable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 running time 7:05</a:t>
            </a:r>
          </a:p>
          <a:p xmlns:a="http://schemas.openxmlformats.org/drawingml/2006/main">
            <a:r>
              <a:t>C2PA already offers several privacy building blocks. Omit optional assertions when the next verifier does not need them. Keep richer optional assertions remote and govern repository access. For known recipients, C2PA guidance also describes custom encrypted assertions. Use an update manifest to redact an assertion or replace rich metadata with a narrower version. After privately validating the original, a verifier can sign a new minimal manifest that carries only its attestation and no PII. These mechanisms reduce exposure, but they do not choose the audience or purpose. The tier-selection policy still determines what may leave the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 running time 7:55</a:t>
            </a:r>
          </a:p>
          <a:p xmlns:a="http://schemas.openxmlformats.org/drawingml/2006/main">
            <a:r>
              <a:t>Going back to the original example that we were discussing. A newsroom can validate richer evidence privately, publish a narrow editorial attestation, and reserve the source-identifying chain for an authorized accountability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 running time 8:40</a:t>
            </a:r>
          </a:p>
          <a:p xmlns:a="http://schemas.openxmlformats.org/drawingml/2006/main">
            <a:r>
              <a:t>On the open internet, downstream viewers are often unknown, but platforms still inherit users’ privacy expectations. Use a narrow claim that a publisher validates and binds to the media as the public proof. Keep richer provenance with the creator or in a trusted data store, and release it only for an authorized purpose. When a platform transforms or reposts the media, it should preserve that narrow claim or attest again without expanding the upstream disclosure. Trust can survive resharing without carrying identity, device, time, or location into every copy.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0:20, running time 9:00</a:t>
            </a:r>
          </a:p>
          <a:p xmlns:a="http://schemas.openxmlformats.org/drawingml/2006/main">
            <a:r>
              <a:t>Close with the minimum disclosure principle. The standards, product, and policy goal is meaningful trust without unnecessary exposure of sensitive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9968ff42484e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e594a46e454a37" /><Relationship Type="http://schemas.openxmlformats.org/officeDocument/2006/relationships/slideLayout" Target="/ppt/slideLayouts/slideLayout1.xml" Id="R8dfb2785e9e742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fb2785e9e742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f9fab05a5c4bfc" /><Relationship Type="http://schemas.openxmlformats.org/officeDocument/2006/relationships/notesSlide" Target="/ppt/notesSlides/notesSlide1.xml" Id="R5b38ec1a7c4c44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51ecc81bbd4510" /><Relationship Type="http://schemas.openxmlformats.org/officeDocument/2006/relationships/notesSlide" Target="/ppt/notesSlides/notesSlide2.xml" Id="R180c4e5e63bb41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8382da3abf4242" /><Relationship Type="http://schemas.openxmlformats.org/officeDocument/2006/relationships/notesSlide" Target="/ppt/notesSlides/notesSlide3.xml" Id="Rb9ceedd4fc3c48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4af7ecc729446f" /><Relationship Type="http://schemas.openxmlformats.org/officeDocument/2006/relationships/notesSlide" Target="/ppt/notesSlides/notesSlide4.xml" Id="R05fb50e4887c44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e8b6418c1c45d7" /><Relationship Type="http://schemas.openxmlformats.org/officeDocument/2006/relationships/notesSlide" Target="/ppt/notesSlides/notesSlide5.xml" Id="R0f04ffa2bea74d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8543e94908f4b31" /><Relationship Type="http://schemas.openxmlformats.org/officeDocument/2006/relationships/notesSlide" Target="/ppt/notesSlides/notesSlide6.xml" Id="Rbae9dcd7cf1244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712e10f7984d8c" /><Relationship Type="http://schemas.openxmlformats.org/officeDocument/2006/relationships/notesSlide" Target="/ppt/notesSlides/notesSlide7.xml" Id="R4a134e988b5342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d09c12d6e045e4" /><Relationship Type="http://schemas.openxmlformats.org/officeDocument/2006/relationships/notesSlide" Target="/ppt/notesSlides/notesSlide8.xml" Id="Rf19ff33f7e8a47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e4488e981b4ac6" /><Relationship Type="http://schemas.openxmlformats.org/officeDocument/2006/relationships/hyperlink" Target="https://github.com/contentauth/c2pa-rs/blob/main/docs/redaction.md" TargetMode="External" Id="Rd224cc8e922b4d8e" /><Relationship Type="http://schemas.openxmlformats.org/officeDocument/2006/relationships/hyperlink" Target="https://github.com/contentauth/c2pa-rs/blob/main/sdk/src/assertions/cloud_data.rs" TargetMode="External" Id="R7948cea1c2794ac7" /><Relationship Type="http://schemas.openxmlformats.org/officeDocument/2006/relationships/hyperlink" Target="https://spec.c2pa.org/specifications/specifications/2.4/guidance/Guidance.html#_encryption_of_assertions" TargetMode="External" Id="R800aaa0ecfb94113" /><Relationship Type="http://schemas.openxmlformats.org/officeDocument/2006/relationships/notesSlide" Target="/ppt/notesSlides/notesSlide9.xml" Id="R39157d6cba0b4e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1d52b8b3884d80" /><Relationship Type="http://schemas.openxmlformats.org/officeDocument/2006/relationships/notesSlide" Target="/ppt/notesSlides/notesSlide10.xml" Id="R693afbec16c549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84d9d51e7b04020" /><Relationship Type="http://schemas.openxmlformats.org/officeDocument/2006/relationships/notesSlide" Target="/ppt/notesSlides/notesSlide11.xml" Id="Rf57862d3474d46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331b8c95d740a0" /><Relationship Type="http://schemas.openxmlformats.org/officeDocument/2006/relationships/notesSlide" Target="/ppt/notesSlides/notesSlide12.xml" Id="R42b53d3718274ac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over-eyebrow">
            <a:extLst xmlns:a="http://schemas.openxmlformats.org/drawingml/2006/main">
              <a:ext uri="{FF2B5EF4-FFF2-40B4-BE49-F238E27FC236}">
                <a16:creationId xmlns:a16="http://schemas.microsoft.com/office/drawing/2014/main" id="{53212941-0E1F-4B15-95B0-8657C97CBB26}"/>
              </a:ext>
            </a:extLst>
          </p:cNvPr>
          <p:cNvSpPr>
            <a:spLocks xmlns:a="http://schemas.openxmlformats.org/drawingml/2006/main" noGrp="1"/>
          </p:cNvSpPr>
          <p:nvPr/>
        </p:nvSpPr>
        <p:spPr>
          <a:xfrm xmlns:a="http://schemas.openxmlformats.org/drawingml/2006/main">
            <a:off x="390525" y="428625"/>
            <a:ext cx="11410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buNone/>
              <a:defRPr sz="1600" b="1" i="0">
                <a:solidFill>
                  <a:srgbClr val="3D8DFF"/>
                </a:solidFill>
                <a:latin typeface="Calibri"/>
                <a:ea typeface="Calibri"/>
                <a:cs typeface="Calibri"/>
              </a:defRPr>
            </a:pPr>
            <a:r>
              <a:rPr sz="1600" b="1" i="0">
                <a:solidFill>
                  <a:srgbClr val="3D8DFF"/>
                </a:solidFill>
                <a:latin typeface="Calibri"/>
                <a:ea typeface="Calibri"/>
                <a:cs typeface="Calibri"/>
              </a:rPr>
              <a:t>IEEE Symposium on Privacy Expectations (ISoPE) ∙ 1st and 2nd of October 2026 ∙ New York City, NY, USA</a:t>
            </a:r>
          </a:p>
        </p:txBody>
      </p:sp>
      <p:sp>
        <p:nvSpPr>
          <p:cNvPr id="2" name="cover-title">
            <a:extLst xmlns:a="http://schemas.openxmlformats.org/drawingml/2006/main">
              <a:ext uri="{FF2B5EF4-FFF2-40B4-BE49-F238E27FC236}">
                <a16:creationId xmlns:a16="http://schemas.microsoft.com/office/drawing/2014/main" id="{C3BBDD7E-831F-496B-9D80-8BE6F151C66B}"/>
              </a:ext>
            </a:extLst>
          </p:cNvPr>
          <p:cNvSpPr>
            <a:spLocks xmlns:a="http://schemas.openxmlformats.org/drawingml/2006/main" noGrp="1"/>
          </p:cNvSpPr>
          <p:nvPr/>
        </p:nvSpPr>
        <p:spPr>
          <a:xfrm xmlns:a="http://schemas.openxmlformats.org/drawingml/2006/main">
            <a:off x="390525" y="2143125"/>
            <a:ext cx="114109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buNone/>
              <a:defRPr sz="6000" b="0" i="0">
                <a:solidFill>
                  <a:srgbClr val="111318"/>
                </a:solidFill>
                <a:latin typeface="Helvetica Neue"/>
                <a:ea typeface="Helvetica Neue"/>
                <a:cs typeface="Helvetica Neue"/>
              </a:defRPr>
            </a:pPr>
            <a:r>
              <a:rPr sz="6000" b="0" i="0">
                <a:solidFill>
                  <a:srgbClr val="111318"/>
                </a:solidFill>
                <a:latin typeface="Helvetica Neue"/>
                <a:ea typeface="Helvetica Neue"/>
                <a:cs typeface="Helvetica Neue"/>
              </a:rPr>
              <a:t>The Transparency Paradox</a:t>
            </a:r>
          </a:p>
        </p:txBody>
      </p:sp>
      <p:sp>
        <p:nvSpPr>
          <p:cNvPr id="3" name="cover-subtitle">
            <a:extLst xmlns:a="http://schemas.openxmlformats.org/drawingml/2006/main">
              <a:ext uri="{FF2B5EF4-FFF2-40B4-BE49-F238E27FC236}">
                <a16:creationId xmlns:a16="http://schemas.microsoft.com/office/drawing/2014/main" id="{4B4DBE14-F522-4811-AB23-9A5D4967E261}"/>
              </a:ext>
            </a:extLst>
          </p:cNvPr>
          <p:cNvSpPr>
            <a:spLocks xmlns:a="http://schemas.openxmlformats.org/drawingml/2006/main" noGrp="1"/>
          </p:cNvSpPr>
          <p:nvPr/>
        </p:nvSpPr>
        <p:spPr>
          <a:xfrm xmlns:a="http://schemas.openxmlformats.org/drawingml/2006/main">
            <a:off x="390525" y="3381375"/>
            <a:ext cx="857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11318"/>
                </a:solidFill>
                <a:latin typeface="Helvetica Neue"/>
                <a:ea typeface="Helvetica Neue"/>
                <a:cs typeface="Helvetica Neue"/>
              </a:defRPr>
            </a:pPr>
            <a:r>
              <a:rPr sz="2250" b="0" i="0">
                <a:solidFill>
                  <a:srgbClr val="111318"/>
                </a:solidFill>
                <a:latin typeface="Helvetica Neue"/>
                <a:ea typeface="Helvetica Neue"/>
                <a:cs typeface="Helvetica Neue"/>
              </a:rPr>
              <a:t>Calibrating AI provenance to privacy expectations</a:t>
            </a:r>
          </a:p>
        </p:txBody>
      </p:sp>
      <p:sp>
        <p:nvSpPr>
          <p:cNvPr id="4" name="cover-author">
            <a:extLst xmlns:a="http://schemas.openxmlformats.org/drawingml/2006/main">
              <a:ext uri="{FF2B5EF4-FFF2-40B4-BE49-F238E27FC236}">
                <a16:creationId xmlns:a16="http://schemas.microsoft.com/office/drawing/2014/main" id="{EEBD933C-2DBC-462F-AAB8-764D9F0BE9FC}"/>
              </a:ext>
            </a:extLst>
          </p:cNvPr>
          <p:cNvSpPr>
            <a:spLocks xmlns:a="http://schemas.openxmlformats.org/drawingml/2006/main" noGrp="1"/>
          </p:cNvSpPr>
          <p:nvPr/>
        </p:nvSpPr>
        <p:spPr>
          <a:xfrm xmlns:a="http://schemas.openxmlformats.org/drawingml/2006/main">
            <a:off x="390525" y="590550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55D69"/>
                </a:solidFill>
                <a:latin typeface="Helvetica Neue"/>
                <a:ea typeface="Helvetica Neue"/>
                <a:cs typeface="Helvetica Neue"/>
              </a:defRPr>
            </a:pPr>
            <a:r>
              <a:rPr sz="1500" b="0" i="0">
                <a:solidFill>
                  <a:srgbClr val="555D69"/>
                </a:solidFill>
                <a:latin typeface="Helvetica Neue"/>
                <a:ea typeface="Helvetica Neue"/>
                <a:cs typeface="Helvetica Neue"/>
              </a:rPr>
              <a:t>Sai Prashanth Chandramouli · Meta Platforms, Inc.</a:t>
            </a:r>
          </a:p>
        </p:txBody>
      </p:sp>
      <p:sp>
        <p:nvSpPr>
          <p:cNvPr id="6" name="ISOPE required footer">
            <a:extLst xmlns:a="http://schemas.openxmlformats.org/drawingml/2006/main">
              <a:ext uri="{FF2B5EF4-FFF2-40B4-BE49-F238E27FC236}">
                <a16:creationId xmlns:a16="http://schemas.microsoft.com/office/drawing/2014/main" id="{A62ACA20-8309-4D43-85A2-AF6021D216D6}"/>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17559247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2-title">
            <a:extLst xmlns:a="http://schemas.openxmlformats.org/drawingml/2006/main">
              <a:ext uri="{FF2B5EF4-FFF2-40B4-BE49-F238E27FC236}">
                <a16:creationId xmlns:a16="http://schemas.microsoft.com/office/drawing/2014/main" id="{F40D6698-7BE0-4A16-88B4-2AC97D1F2D75}"/>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Provenance - What it is and what it does</a:t>
            </a:r>
          </a:p>
        </p:txBody>
      </p:sp>
      <p:sp>
        <p:nvSpPr>
          <p:cNvPr id="2" name="">
            <a:extLst xmlns:a="http://schemas.openxmlformats.org/drawingml/2006/main">
              <a:ext uri="{FF2B5EF4-FFF2-40B4-BE49-F238E27FC236}">
                <a16:creationId xmlns:a16="http://schemas.microsoft.com/office/drawing/2014/main" id="{59AF080C-CE66-484B-BB55-A6032410F995}"/>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2-number">
            <a:extLst xmlns:a="http://schemas.openxmlformats.org/drawingml/2006/main">
              <a:ext uri="{FF2B5EF4-FFF2-40B4-BE49-F238E27FC236}">
                <a16:creationId xmlns:a16="http://schemas.microsoft.com/office/drawing/2014/main" id="{190DA84B-BADB-4733-875A-1E749CE28AB1}"/>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667E8193-BECB-4741-807E-5EBA3B12FD5E}"/>
              </a:ext>
            </a:extLst>
          </p:cNvPr>
          <p:cNvSpPr>
            <a:spLocks xmlns:a="http://schemas.openxmlformats.org/drawingml/2006/main" noGrp="1"/>
          </p:cNvSpPr>
          <p:nvPr/>
        </p:nvSpPr>
        <p:spPr>
          <a:xfrm xmlns:a="http://schemas.openxmlformats.org/drawingml/2006/main">
            <a:off x="390525" y="1619250"/>
            <a:ext cx="5286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398"/>
          </a:bodyPr>
          <a:lstStyle xmlns:a="http://schemas.openxmlformats.org/drawingml/2006/main"/>
          <a:p xmlns:a="http://schemas.openxmlformats.org/drawingml/2006/main">
            <a:pPr algn="l">
              <a:buNone/>
              <a:defRPr sz="2325" b="1" i="0">
                <a:solidFill>
                  <a:srgbClr val="185D9D"/>
                </a:solidFill>
                <a:latin typeface="Helvetica Neue"/>
                <a:ea typeface="Helvetica Neue"/>
                <a:cs typeface="Helvetica Neue"/>
              </a:defRPr>
            </a:pPr>
            <a:r>
              <a:rPr sz="2325" b="1" i="0">
                <a:solidFill>
                  <a:srgbClr val="185D9D"/>
                </a:solidFill>
                <a:latin typeface="Helvetica Neue"/>
                <a:ea typeface="Helvetica Neue"/>
                <a:cs typeface="Helvetica Neue"/>
              </a:rPr>
              <a:t>Provenance records claims about origin and editing history.</a:t>
            </a:r>
          </a:p>
        </p:txBody>
      </p:sp>
      <p:sp>
        <p:nvSpPr>
          <p:cNvPr id="5" name="">
            <a:extLst xmlns:a="http://schemas.openxmlformats.org/drawingml/2006/main">
              <a:ext uri="{FF2B5EF4-FFF2-40B4-BE49-F238E27FC236}">
                <a16:creationId xmlns:a16="http://schemas.microsoft.com/office/drawing/2014/main" id="{59E3CFC5-49D2-4C15-8AF5-E3D6C8F59328}"/>
              </a:ext>
            </a:extLst>
          </p:cNvPr>
          <p:cNvSpPr>
            <a:spLocks xmlns:a="http://schemas.openxmlformats.org/drawingml/2006/main" noGrp="1"/>
          </p:cNvSpPr>
          <p:nvPr/>
        </p:nvSpPr>
        <p:spPr>
          <a:xfrm xmlns:a="http://schemas.openxmlformats.org/drawingml/2006/main">
            <a:off x="390525" y="26955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077E0C-D09D-4787-91A3-D57AF69C5F0A}"/>
              </a:ext>
            </a:extLst>
          </p:cNvPr>
          <p:cNvSpPr>
            <a:spLocks xmlns:a="http://schemas.openxmlformats.org/drawingml/2006/main" noGrp="1"/>
          </p:cNvSpPr>
          <p:nvPr/>
        </p:nvSpPr>
        <p:spPr>
          <a:xfrm xmlns:a="http://schemas.openxmlformats.org/drawingml/2006/main">
            <a:off x="657225" y="2619375"/>
            <a:ext cx="5019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111318"/>
                </a:solidFill>
                <a:latin typeface="Helvetica Neue"/>
                <a:ea typeface="Helvetica Neue"/>
                <a:cs typeface="Helvetica Neue"/>
              </a:defRPr>
            </a:pPr>
            <a:r>
              <a:rPr sz="1800" b="0" i="0">
                <a:solidFill>
                  <a:srgbClr val="111318"/>
                </a:solidFill>
                <a:latin typeface="Helvetica Neue"/>
                <a:ea typeface="Helvetica Neue"/>
                <a:cs typeface="Helvetica Neue"/>
              </a:rPr>
              <a:t>A signed manifest describes how a file was created or changed.</a:t>
            </a:r>
          </a:p>
        </p:txBody>
      </p:sp>
      <p:sp>
        <p:nvSpPr>
          <p:cNvPr id="7" name="">
            <a:extLst xmlns:a="http://schemas.openxmlformats.org/drawingml/2006/main">
              <a:ext uri="{FF2B5EF4-FFF2-40B4-BE49-F238E27FC236}">
                <a16:creationId xmlns:a16="http://schemas.microsoft.com/office/drawing/2014/main" id="{8D5C86A8-1BCF-4119-B4D3-4878007D736C}"/>
              </a:ext>
            </a:extLst>
          </p:cNvPr>
          <p:cNvSpPr>
            <a:spLocks xmlns:a="http://schemas.openxmlformats.org/drawingml/2006/main" noGrp="1"/>
          </p:cNvSpPr>
          <p:nvPr/>
        </p:nvSpPr>
        <p:spPr>
          <a:xfrm xmlns:a="http://schemas.openxmlformats.org/drawingml/2006/main">
            <a:off x="390525" y="36480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881547-DD5F-4BC8-8080-A221EB85A481}"/>
              </a:ext>
            </a:extLst>
          </p:cNvPr>
          <p:cNvSpPr>
            <a:spLocks xmlns:a="http://schemas.openxmlformats.org/drawingml/2006/main" noGrp="1"/>
          </p:cNvSpPr>
          <p:nvPr/>
        </p:nvSpPr>
        <p:spPr>
          <a:xfrm xmlns:a="http://schemas.openxmlformats.org/drawingml/2006/main">
            <a:off x="657225" y="3571875"/>
            <a:ext cx="5019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111318"/>
                </a:solidFill>
                <a:latin typeface="Helvetica Neue"/>
                <a:ea typeface="Helvetica Neue"/>
                <a:cs typeface="Helvetica Neue"/>
              </a:defRPr>
            </a:pPr>
            <a:r>
              <a:rPr sz="1800" b="0" i="0">
                <a:solidFill>
                  <a:srgbClr val="111318"/>
                </a:solidFill>
                <a:latin typeface="Helvetica Neue"/>
                <a:ea typeface="Helvetica Neue"/>
                <a:cs typeface="Helvetica Neue"/>
              </a:rPr>
              <a:t>A verifier checks the signature and its binding to this asset.</a:t>
            </a:r>
          </a:p>
        </p:txBody>
      </p:sp>
      <p:sp>
        <p:nvSpPr>
          <p:cNvPr id="9" name="">
            <a:extLst xmlns:a="http://schemas.openxmlformats.org/drawingml/2006/main">
              <a:ext uri="{FF2B5EF4-FFF2-40B4-BE49-F238E27FC236}">
                <a16:creationId xmlns:a16="http://schemas.microsoft.com/office/drawing/2014/main" id="{0B32702B-1736-4B0E-9ACB-47D1A99A2791}"/>
              </a:ext>
            </a:extLst>
          </p:cNvPr>
          <p:cNvSpPr>
            <a:spLocks xmlns:a="http://schemas.openxmlformats.org/drawingml/2006/main" noGrp="1"/>
          </p:cNvSpPr>
          <p:nvPr/>
        </p:nvSpPr>
        <p:spPr>
          <a:xfrm xmlns:a="http://schemas.openxmlformats.org/drawingml/2006/main">
            <a:off x="390525" y="46005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5BEE54-91DD-490E-9E82-81635EDA7CF3}"/>
              </a:ext>
            </a:extLst>
          </p:cNvPr>
          <p:cNvSpPr>
            <a:spLocks xmlns:a="http://schemas.openxmlformats.org/drawingml/2006/main" noGrp="1"/>
          </p:cNvSpPr>
          <p:nvPr/>
        </p:nvSpPr>
        <p:spPr>
          <a:xfrm xmlns:a="http://schemas.openxmlformats.org/drawingml/2006/main">
            <a:off x="657225" y="4524375"/>
            <a:ext cx="5019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111318"/>
                </a:solidFill>
                <a:latin typeface="Helvetica Neue"/>
                <a:ea typeface="Helvetica Neue"/>
                <a:cs typeface="Helvetica Neue"/>
              </a:defRPr>
            </a:pPr>
            <a:r>
              <a:rPr sz="1800" b="0" i="0">
                <a:solidFill>
                  <a:srgbClr val="111318"/>
                </a:solidFill>
                <a:latin typeface="Helvetica Neue"/>
                <a:ea typeface="Helvetica Neue"/>
                <a:cs typeface="Helvetica Neue"/>
              </a:rPr>
              <a:t>The workflow decides which claims and metadata become visible.</a:t>
            </a:r>
          </a:p>
        </p:txBody>
      </p:sp>
      <p:sp>
        <p:nvSpPr>
          <p:cNvPr id="11" name="">
            <a:extLst xmlns:a="http://schemas.openxmlformats.org/drawingml/2006/main">
              <a:ext uri="{FF2B5EF4-FFF2-40B4-BE49-F238E27FC236}">
                <a16:creationId xmlns:a16="http://schemas.microsoft.com/office/drawing/2014/main" id="{A00EF178-F241-453B-A15C-4D8A313474A3}"/>
              </a:ext>
            </a:extLst>
          </p:cNvPr>
          <p:cNvSpPr>
            <a:spLocks xmlns:a="http://schemas.openxmlformats.org/drawingml/2006/main" noGrp="1"/>
          </p:cNvSpPr>
          <p:nvPr/>
        </p:nvSpPr>
        <p:spPr>
          <a:xfrm xmlns:a="http://schemas.openxmlformats.org/drawingml/2006/main">
            <a:off x="6267450" y="1466850"/>
            <a:ext cx="5534025" cy="4476750"/>
          </a:xfrm>
          <a:prstGeom xmlns:a="http://schemas.openxmlformats.org/drawingml/2006/main" prst="rect">
            <a:avLst/>
          </a:prstGeom>
          <a:solidFill xmlns:a="http://schemas.openxmlformats.org/drawingml/2006/main">
            <a:srgbClr val="EAF5FB"/>
          </a:solidFill>
          <a:ln xmlns:a="http://schemas.openxmlformats.org/drawingml/2006/main" w="9525">
            <a:solidFill>
              <a:srgbClr val="BBC3CC"/>
            </a:solidFill>
            <a:prstDash val="solid"/>
          </a:ln>
        </p:spPr>
      </p:sp>
      <p:sp>
        <p:nvSpPr>
          <p:cNvPr id="12" name="">
            <a:extLst xmlns:a="http://schemas.openxmlformats.org/drawingml/2006/main">
              <a:ext uri="{FF2B5EF4-FFF2-40B4-BE49-F238E27FC236}">
                <a16:creationId xmlns:a16="http://schemas.microsoft.com/office/drawing/2014/main" id="{3509E9A6-C156-41BD-86E8-EE089039C797}"/>
              </a:ext>
            </a:extLst>
          </p:cNvPr>
          <p:cNvSpPr>
            <a:spLocks xmlns:a="http://schemas.openxmlformats.org/drawingml/2006/main" noGrp="1"/>
          </p:cNvSpPr>
          <p:nvPr/>
        </p:nvSpPr>
        <p:spPr>
          <a:xfrm xmlns:a="http://schemas.openxmlformats.org/drawingml/2006/main">
            <a:off x="7105650" y="3657600"/>
            <a:ext cx="904875" cy="953"/>
          </a:xfrm>
          <a:prstGeom xmlns:a="http://schemas.openxmlformats.org/drawingml/2006/main" prst="line">
            <a:avLst/>
          </a:prstGeom>
          <a:noFill xmlns:a="http://schemas.openxmlformats.org/drawingml/2006/main"/>
          <a:ln xmlns:a="http://schemas.openxmlformats.org/drawingml/2006/main" w="28575">
            <a:solidFill>
              <a:srgbClr val="BBC3CC"/>
            </a:solidFill>
            <a:prstDash val="solid"/>
          </a:ln>
        </p:spPr>
      </p:sp>
      <p:sp>
        <p:nvSpPr>
          <p:cNvPr id="13" name="">
            <a:extLst xmlns:a="http://schemas.openxmlformats.org/drawingml/2006/main">
              <a:ext uri="{FF2B5EF4-FFF2-40B4-BE49-F238E27FC236}">
                <a16:creationId xmlns:a16="http://schemas.microsoft.com/office/drawing/2014/main" id="{B752E121-EFCC-4E47-A5C1-A5ED8DE7D223}"/>
              </a:ext>
            </a:extLst>
          </p:cNvPr>
          <p:cNvSpPr>
            <a:spLocks xmlns:a="http://schemas.openxmlformats.org/drawingml/2006/main" noGrp="1"/>
          </p:cNvSpPr>
          <p:nvPr/>
        </p:nvSpPr>
        <p:spPr>
          <a:xfrm xmlns:a="http://schemas.openxmlformats.org/drawingml/2006/main" flipV="1">
            <a:off x="9886950" y="2571750"/>
            <a:ext cx="1095375" cy="666750"/>
          </a:xfrm>
          <a:prstGeom xmlns:a="http://schemas.openxmlformats.org/drawingml/2006/main" prst="line">
            <a:avLst/>
          </a:prstGeom>
          <a:noFill xmlns:a="http://schemas.openxmlformats.org/drawingml/2006/main"/>
          <a:ln xmlns:a="http://schemas.openxmlformats.org/drawingml/2006/main" w="28575">
            <a:solidFill>
              <a:srgbClr val="BBC3CC"/>
            </a:solidFill>
            <a:prstDash val="solid"/>
          </a:ln>
        </p:spPr>
      </p:sp>
      <p:sp>
        <p:nvSpPr>
          <p:cNvPr id="14" name="">
            <a:extLst xmlns:a="http://schemas.openxmlformats.org/drawingml/2006/main">
              <a:ext uri="{FF2B5EF4-FFF2-40B4-BE49-F238E27FC236}">
                <a16:creationId xmlns:a16="http://schemas.microsoft.com/office/drawing/2014/main" id="{DC332A7E-F829-4B82-89CF-0EEDFBAF8163}"/>
              </a:ext>
            </a:extLst>
          </p:cNvPr>
          <p:cNvSpPr>
            <a:spLocks xmlns:a="http://schemas.openxmlformats.org/drawingml/2006/main" noGrp="1"/>
          </p:cNvSpPr>
          <p:nvPr/>
        </p:nvSpPr>
        <p:spPr>
          <a:xfrm xmlns:a="http://schemas.openxmlformats.org/drawingml/2006/main">
            <a:off x="9886950" y="3905250"/>
            <a:ext cx="1095375" cy="666750"/>
          </a:xfrm>
          <a:prstGeom xmlns:a="http://schemas.openxmlformats.org/drawingml/2006/main" prst="line">
            <a:avLst/>
          </a:prstGeom>
          <a:noFill xmlns:a="http://schemas.openxmlformats.org/drawingml/2006/main"/>
          <a:ln xmlns:a="http://schemas.openxmlformats.org/drawingml/2006/main" w="28575">
            <a:solidFill>
              <a:srgbClr val="BBC3CC"/>
            </a:solidFill>
            <a:prstDash val="solid"/>
          </a:ln>
        </p:spPr>
      </p:sp>
      <p:sp>
        <p:nvSpPr>
          <p:cNvPr id="15" name="">
            <a:extLst xmlns:a="http://schemas.openxmlformats.org/drawingml/2006/main">
              <a:ext uri="{FF2B5EF4-FFF2-40B4-BE49-F238E27FC236}">
                <a16:creationId xmlns:a16="http://schemas.microsoft.com/office/drawing/2014/main" id="{17E3ADC3-54B2-4A78-BF6F-6CE61194A96F}"/>
              </a:ext>
            </a:extLst>
          </p:cNvPr>
          <p:cNvSpPr>
            <a:spLocks xmlns:a="http://schemas.openxmlformats.org/drawingml/2006/main" noGrp="1"/>
          </p:cNvSpPr>
          <p:nvPr/>
        </p:nvSpPr>
        <p:spPr>
          <a:xfrm xmlns:a="http://schemas.openxmlformats.org/drawingml/2006/main">
            <a:off x="6419850" y="3238500"/>
            <a:ext cx="838200" cy="838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318"/>
            </a:solidFill>
            <a:prstDash val="solid"/>
          </a:ln>
        </p:spPr>
      </p:sp>
      <p:sp>
        <p:nvSpPr>
          <p:cNvPr id="16" name="">
            <a:extLst xmlns:a="http://schemas.openxmlformats.org/drawingml/2006/main">
              <a:ext uri="{FF2B5EF4-FFF2-40B4-BE49-F238E27FC236}">
                <a16:creationId xmlns:a16="http://schemas.microsoft.com/office/drawing/2014/main" id="{AC48D499-9C7A-491D-B825-78E0C47B7269}"/>
              </a:ext>
            </a:extLst>
          </p:cNvPr>
          <p:cNvSpPr>
            <a:spLocks xmlns:a="http://schemas.openxmlformats.org/drawingml/2006/main" noGrp="1"/>
          </p:cNvSpPr>
          <p:nvPr/>
        </p:nvSpPr>
        <p:spPr>
          <a:xfrm xmlns:a="http://schemas.openxmlformats.org/drawingml/2006/main">
            <a:off x="6429375" y="3495675"/>
            <a:ext cx="819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MEDIA</a:t>
            </a:r>
          </a:p>
        </p:txBody>
      </p:sp>
      <p:sp>
        <p:nvSpPr>
          <p:cNvPr id="17" name="">
            <a:extLst xmlns:a="http://schemas.openxmlformats.org/drawingml/2006/main">
              <a:ext uri="{FF2B5EF4-FFF2-40B4-BE49-F238E27FC236}">
                <a16:creationId xmlns:a16="http://schemas.microsoft.com/office/drawing/2014/main" id="{262ABC54-A741-4579-82E7-FD0066E5392B}"/>
              </a:ext>
            </a:extLst>
          </p:cNvPr>
          <p:cNvSpPr>
            <a:spLocks xmlns:a="http://schemas.openxmlformats.org/drawingml/2006/main" noGrp="1"/>
          </p:cNvSpPr>
          <p:nvPr/>
        </p:nvSpPr>
        <p:spPr>
          <a:xfrm xmlns:a="http://schemas.openxmlformats.org/drawingml/2006/main">
            <a:off x="8020050" y="2724150"/>
            <a:ext cx="1885950" cy="1866900"/>
          </a:xfrm>
          <a:prstGeom xmlns:a="http://schemas.openxmlformats.org/drawingml/2006/main" prst="rect">
            <a:avLst/>
          </a:prstGeom>
          <a:solidFill xmlns:a="http://schemas.openxmlformats.org/drawingml/2006/main">
            <a:srgbClr val="FFFFFF"/>
          </a:solidFill>
          <a:ln xmlns:a="http://schemas.openxmlformats.org/drawingml/2006/main" w="19050">
            <a:solidFill>
              <a:srgbClr val="111318"/>
            </a:solidFill>
            <a:prstDash val="solid"/>
          </a:ln>
        </p:spPr>
      </p:sp>
      <p:sp>
        <p:nvSpPr>
          <p:cNvPr id="18" name="">
            <a:extLst xmlns:a="http://schemas.openxmlformats.org/drawingml/2006/main">
              <a:ext uri="{FF2B5EF4-FFF2-40B4-BE49-F238E27FC236}">
                <a16:creationId xmlns:a16="http://schemas.microsoft.com/office/drawing/2014/main" id="{4D0644AA-3DAF-4014-8652-29A0C4E04592}"/>
              </a:ext>
            </a:extLst>
          </p:cNvPr>
          <p:cNvSpPr>
            <a:spLocks xmlns:a="http://schemas.openxmlformats.org/drawingml/2006/main" noGrp="1"/>
          </p:cNvSpPr>
          <p:nvPr/>
        </p:nvSpPr>
        <p:spPr>
          <a:xfrm xmlns:a="http://schemas.openxmlformats.org/drawingml/2006/main">
            <a:off x="8229600" y="2933700"/>
            <a:ext cx="146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765"/>
          </a:bodyPr>
          <a:lstStyle xmlns:a="http://schemas.openxmlformats.org/drawingml/2006/main"/>
          <a:p xmlns:a="http://schemas.openxmlformats.org/drawingml/2006/main">
            <a:pPr algn="ctr">
              <a:buNone/>
              <a:defRPr sz="2025" b="1" i="0">
                <a:solidFill>
                  <a:srgbClr val="111318"/>
                </a:solidFill>
                <a:latin typeface="Helvetica Neue"/>
                <a:ea typeface="Helvetica Neue"/>
                <a:cs typeface="Helvetica Neue"/>
              </a:defRPr>
            </a:pPr>
            <a:r>
              <a:rPr sz="2025" b="1" i="0">
                <a:solidFill>
                  <a:srgbClr val="111318"/>
                </a:solidFill>
                <a:latin typeface="Helvetica Neue"/>
                <a:ea typeface="Helvetica Neue"/>
                <a:cs typeface="Helvetica Neue"/>
              </a:rPr>
              <a:t>C2PA</a:t>
            </a:r>
          </a:p>
          <a:p xmlns:a="http://schemas.openxmlformats.org/drawingml/2006/main">
            <a:pPr algn="ctr">
              <a:buNone/>
              <a:defRPr sz="2025" b="1" i="0">
                <a:solidFill>
                  <a:srgbClr val="111318"/>
                </a:solidFill>
                <a:latin typeface="Helvetica Neue"/>
                <a:ea typeface="Helvetica Neue"/>
                <a:cs typeface="Helvetica Neue"/>
              </a:defRPr>
            </a:pPr>
            <a:r>
              <a:rPr sz="2025" b="1" i="0">
                <a:solidFill>
                  <a:srgbClr val="111318"/>
                </a:solidFill>
                <a:latin typeface="Helvetica Neue"/>
                <a:ea typeface="Helvetica Neue"/>
                <a:cs typeface="Helvetica Neue"/>
              </a:rPr>
              <a:t>MANIFEST</a:t>
            </a:r>
          </a:p>
        </p:txBody>
      </p:sp>
      <p:sp>
        <p:nvSpPr>
          <p:cNvPr id="19" name="">
            <a:extLst xmlns:a="http://schemas.openxmlformats.org/drawingml/2006/main">
              <a:ext uri="{FF2B5EF4-FFF2-40B4-BE49-F238E27FC236}">
                <a16:creationId xmlns:a16="http://schemas.microsoft.com/office/drawing/2014/main" id="{A2A136F5-949E-4C8E-AB87-B247CEC92B18}"/>
              </a:ext>
            </a:extLst>
          </p:cNvPr>
          <p:cNvSpPr>
            <a:spLocks xmlns:a="http://schemas.openxmlformats.org/drawingml/2006/main" noGrp="1"/>
          </p:cNvSpPr>
          <p:nvPr/>
        </p:nvSpPr>
        <p:spPr>
          <a:xfrm xmlns:a="http://schemas.openxmlformats.org/drawingml/2006/main">
            <a:off x="8286750" y="3648075"/>
            <a:ext cx="13525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20" name="">
            <a:extLst xmlns:a="http://schemas.openxmlformats.org/drawingml/2006/main">
              <a:ext uri="{FF2B5EF4-FFF2-40B4-BE49-F238E27FC236}">
                <a16:creationId xmlns:a16="http://schemas.microsoft.com/office/drawing/2014/main" id="{B77D5128-F89C-4EC3-A1C3-83011769F03D}"/>
              </a:ext>
            </a:extLst>
          </p:cNvPr>
          <p:cNvSpPr>
            <a:spLocks xmlns:a="http://schemas.openxmlformats.org/drawingml/2006/main" noGrp="1"/>
          </p:cNvSpPr>
          <p:nvPr/>
        </p:nvSpPr>
        <p:spPr>
          <a:xfrm xmlns:a="http://schemas.openxmlformats.org/drawingml/2006/main">
            <a:off x="8334375" y="3743325"/>
            <a:ext cx="12763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2231"/>
          </a:bodyPr>
          <a:lstStyle xmlns:a="http://schemas.openxmlformats.org/drawingml/2006/main"/>
          <a:p xmlns:a="http://schemas.openxmlformats.org/drawingml/2006/main">
            <a:pPr algn="ctr">
              <a:buNone/>
              <a:defRPr sz="1350" b="0" i="0">
                <a:solidFill>
                  <a:srgbClr val="555D69"/>
                </a:solidFill>
                <a:latin typeface="Helvetica Neue"/>
                <a:ea typeface="Helvetica Neue"/>
                <a:cs typeface="Helvetica Neue"/>
              </a:defRPr>
            </a:pPr>
            <a:r>
              <a:rPr sz="1350" b="0" i="0">
                <a:solidFill>
                  <a:srgbClr val="555D69"/>
                </a:solidFill>
                <a:latin typeface="Helvetica Neue"/>
                <a:ea typeface="Helvetica Neue"/>
                <a:cs typeface="Helvetica Neue"/>
              </a:rPr>
              <a:t>AI-assisted edit</a:t>
            </a:r>
          </a:p>
          <a:p xmlns:a="http://schemas.openxmlformats.org/drawingml/2006/main">
            <a:pPr algn="ctr">
              <a:buNone/>
              <a:defRPr sz="1350" b="0" i="0">
                <a:solidFill>
                  <a:srgbClr val="555D69"/>
                </a:solidFill>
                <a:latin typeface="Helvetica Neue"/>
                <a:ea typeface="Helvetica Neue"/>
                <a:cs typeface="Helvetica Neue"/>
              </a:defRPr>
            </a:pPr>
            <a:r>
              <a:rPr sz="1350" b="0" i="0">
                <a:solidFill>
                  <a:srgbClr val="555D69"/>
                </a:solidFill>
                <a:latin typeface="Helvetica Neue"/>
                <a:ea typeface="Helvetica Neue"/>
                <a:cs typeface="Helvetica Neue"/>
              </a:rPr>
              <a:t>tool identifier</a:t>
            </a:r>
          </a:p>
          <a:p xmlns:a="http://schemas.openxmlformats.org/drawingml/2006/main">
            <a:pPr algn="ctr">
              <a:buNone/>
              <a:defRPr sz="1350" b="0" i="0">
                <a:solidFill>
                  <a:srgbClr val="555D69"/>
                </a:solidFill>
                <a:latin typeface="Helvetica Neue"/>
                <a:ea typeface="Helvetica Neue"/>
                <a:cs typeface="Helvetica Neue"/>
              </a:defRPr>
            </a:pPr>
            <a:r>
              <a:rPr sz="1350" b="0" i="0">
                <a:solidFill>
                  <a:srgbClr val="555D69"/>
                </a:solidFill>
                <a:latin typeface="Helvetica Neue"/>
                <a:ea typeface="Helvetica Neue"/>
                <a:cs typeface="Helvetica Neue"/>
              </a:rPr>
              <a:t>optional metadata</a:t>
            </a:r>
          </a:p>
        </p:txBody>
      </p:sp>
      <p:sp>
        <p:nvSpPr>
          <p:cNvPr id="21" name="">
            <a:extLst xmlns:a="http://schemas.openxmlformats.org/drawingml/2006/main">
              <a:ext uri="{FF2B5EF4-FFF2-40B4-BE49-F238E27FC236}">
                <a16:creationId xmlns:a16="http://schemas.microsoft.com/office/drawing/2014/main" id="{75385267-29A4-4B04-9325-6B5397A2F0CF}"/>
              </a:ext>
            </a:extLst>
          </p:cNvPr>
          <p:cNvSpPr>
            <a:spLocks xmlns:a="http://schemas.openxmlformats.org/drawingml/2006/main" noGrp="1"/>
          </p:cNvSpPr>
          <p:nvPr/>
        </p:nvSpPr>
        <p:spPr>
          <a:xfrm xmlns:a="http://schemas.openxmlformats.org/drawingml/2006/main">
            <a:off x="10953750" y="2152650"/>
            <a:ext cx="647700" cy="876300"/>
          </a:xfrm>
          <a:prstGeom xmlns:a="http://schemas.openxmlformats.org/drawingml/2006/main" prst="rect">
            <a:avLst/>
          </a:prstGeom>
          <a:solidFill xmlns:a="http://schemas.openxmlformats.org/drawingml/2006/main">
            <a:srgbClr val="D7EDFA"/>
          </a:solidFill>
          <a:ln xmlns:a="http://schemas.openxmlformats.org/drawingml/2006/main" w="9525">
            <a:solidFill>
              <a:srgbClr val="3D8DFF"/>
            </a:solidFill>
            <a:prstDash val="solid"/>
          </a:ln>
        </p:spPr>
      </p:sp>
      <p:sp>
        <p:nvSpPr>
          <p:cNvPr id="22" name="">
            <a:extLst xmlns:a="http://schemas.openxmlformats.org/drawingml/2006/main">
              <a:ext uri="{FF2B5EF4-FFF2-40B4-BE49-F238E27FC236}">
                <a16:creationId xmlns:a16="http://schemas.microsoft.com/office/drawing/2014/main" id="{4DEFDFF1-81B0-4D05-9EF7-7CC15D3695DD}"/>
              </a:ext>
            </a:extLst>
          </p:cNvPr>
          <p:cNvSpPr>
            <a:spLocks xmlns:a="http://schemas.openxmlformats.org/drawingml/2006/main" noGrp="1"/>
          </p:cNvSpPr>
          <p:nvPr/>
        </p:nvSpPr>
        <p:spPr>
          <a:xfrm xmlns:a="http://schemas.openxmlformats.org/drawingml/2006/main">
            <a:off x="10972800" y="2400300"/>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VERIFY</a:t>
            </a:r>
          </a:p>
        </p:txBody>
      </p:sp>
      <p:sp>
        <p:nvSpPr>
          <p:cNvPr id="23" name="">
            <a:extLst xmlns:a="http://schemas.openxmlformats.org/drawingml/2006/main">
              <a:ext uri="{FF2B5EF4-FFF2-40B4-BE49-F238E27FC236}">
                <a16:creationId xmlns:a16="http://schemas.microsoft.com/office/drawing/2014/main" id="{C0A8D3F2-F956-4FBC-9B15-0CBB35453C60}"/>
              </a:ext>
            </a:extLst>
          </p:cNvPr>
          <p:cNvSpPr>
            <a:spLocks xmlns:a="http://schemas.openxmlformats.org/drawingml/2006/main" noGrp="1"/>
          </p:cNvSpPr>
          <p:nvPr/>
        </p:nvSpPr>
        <p:spPr>
          <a:xfrm xmlns:a="http://schemas.openxmlformats.org/drawingml/2006/main">
            <a:off x="10953750" y="4305300"/>
            <a:ext cx="6477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111318"/>
            </a:solidFill>
            <a:prstDash val="solid"/>
          </a:ln>
        </p:spPr>
      </p:sp>
      <p:sp>
        <p:nvSpPr>
          <p:cNvPr id="24" name="">
            <a:extLst xmlns:a="http://schemas.openxmlformats.org/drawingml/2006/main">
              <a:ext uri="{FF2B5EF4-FFF2-40B4-BE49-F238E27FC236}">
                <a16:creationId xmlns:a16="http://schemas.microsoft.com/office/drawing/2014/main" id="{5958E177-6578-4664-8E37-164A55823A87}"/>
              </a:ext>
            </a:extLst>
          </p:cNvPr>
          <p:cNvSpPr>
            <a:spLocks xmlns:a="http://schemas.openxmlformats.org/drawingml/2006/main" noGrp="1"/>
          </p:cNvSpPr>
          <p:nvPr/>
        </p:nvSpPr>
        <p:spPr>
          <a:xfrm xmlns:a="http://schemas.openxmlformats.org/drawingml/2006/main">
            <a:off x="10972800" y="4552950"/>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buNone/>
              <a:defRPr sz="1200" b="1" i="0">
                <a:solidFill>
                  <a:srgbClr val="111318"/>
                </a:solidFill>
                <a:latin typeface="Helvetica Neue"/>
                <a:ea typeface="Helvetica Neue"/>
                <a:cs typeface="Helvetica Neue"/>
              </a:defRPr>
            </a:pPr>
            <a:r>
              <a:rPr sz="1200" b="1" i="0">
                <a:solidFill>
                  <a:srgbClr val="111318"/>
                </a:solidFill>
                <a:latin typeface="Helvetica Neue"/>
                <a:ea typeface="Helvetica Neue"/>
                <a:cs typeface="Helvetica Neue"/>
              </a:rPr>
              <a:t>REVEAL</a:t>
            </a:r>
          </a:p>
        </p:txBody>
      </p:sp>
      <p:sp>
        <p:nvSpPr>
          <p:cNvPr id="27" name="ISOPE required footer">
            <a:extLst xmlns:a="http://schemas.openxmlformats.org/drawingml/2006/main">
              <a:ext uri="{FF2B5EF4-FFF2-40B4-BE49-F238E27FC236}">
                <a16:creationId xmlns:a16="http://schemas.microsoft.com/office/drawing/2014/main" id="{56ED2E03-E92A-44D3-8CE4-75D7EC4B5831}"/>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6622367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2-title">
            <a:extLst xmlns:a="http://schemas.openxmlformats.org/drawingml/2006/main">
              <a:ext uri="{FF2B5EF4-FFF2-40B4-BE49-F238E27FC236}">
                <a16:creationId xmlns:a16="http://schemas.microsoft.com/office/drawing/2014/main" id="{F40D6698-7BE0-4A16-88B4-2AC97D1F2D75}"/>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A private photo can carry more than the image</a:t>
            </a:r>
          </a:p>
        </p:txBody>
      </p:sp>
      <p:sp>
        <p:nvSpPr>
          <p:cNvPr id="2" name="">
            <a:extLst xmlns:a="http://schemas.openxmlformats.org/drawingml/2006/main">
              <a:ext uri="{FF2B5EF4-FFF2-40B4-BE49-F238E27FC236}">
                <a16:creationId xmlns:a16="http://schemas.microsoft.com/office/drawing/2014/main" id="{59AF080C-CE66-484B-BB55-A6032410F995}"/>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2-number">
            <a:extLst xmlns:a="http://schemas.openxmlformats.org/drawingml/2006/main">
              <a:ext uri="{FF2B5EF4-FFF2-40B4-BE49-F238E27FC236}">
                <a16:creationId xmlns:a16="http://schemas.microsoft.com/office/drawing/2014/main" id="{190DA84B-BADB-4733-875A-1E749CE28AB1}"/>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667E8193-BECB-4741-807E-5EBA3B12FD5E}"/>
              </a:ext>
            </a:extLst>
          </p:cNvPr>
          <p:cNvSpPr>
            <a:spLocks xmlns:a="http://schemas.openxmlformats.org/drawingml/2006/main" noGrp="1"/>
          </p:cNvSpPr>
          <p:nvPr/>
        </p:nvSpPr>
        <p:spPr>
          <a:xfrm xmlns:a="http://schemas.openxmlformats.org/drawingml/2006/main">
            <a:off x="390525" y="1619250"/>
            <a:ext cx="5286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398"/>
          </a:bodyPr>
          <a:lstStyle xmlns:a="http://schemas.openxmlformats.org/drawingml/2006/main"/>
          <a:p xmlns:a="http://schemas.openxmlformats.org/drawingml/2006/main">
            <a:pPr algn="l">
              <a:buNone/>
              <a:defRPr sz="2325" b="1" i="0">
                <a:solidFill>
                  <a:srgbClr val="185D9D"/>
                </a:solidFill>
                <a:latin typeface="Helvetica Neue"/>
                <a:ea typeface="Helvetica Neue"/>
                <a:cs typeface="Helvetica Neue"/>
              </a:defRPr>
            </a:pPr>
            <a:r>
              <a:rPr sz="2325" b="1" i="0">
                <a:solidFill>
                  <a:srgbClr val="185D9D"/>
                </a:solidFill>
                <a:latin typeface="Helvetica Neue"/>
                <a:ea typeface="Helvetica Neue"/>
                <a:cs typeface="Helvetica Neue"/>
              </a:rPr>
              <a:t>You send a photo from an AI-enabled phone to a friend.</a:t>
            </a:r>
          </a:p>
        </p:txBody>
      </p:sp>
      <p:sp>
        <p:nvSpPr>
          <p:cNvPr id="5" name="">
            <a:extLst xmlns:a="http://schemas.openxmlformats.org/drawingml/2006/main">
              <a:ext uri="{FF2B5EF4-FFF2-40B4-BE49-F238E27FC236}">
                <a16:creationId xmlns:a16="http://schemas.microsoft.com/office/drawing/2014/main" id="{59E3CFC5-49D2-4C15-8AF5-E3D6C8F59328}"/>
              </a:ext>
            </a:extLst>
          </p:cNvPr>
          <p:cNvSpPr>
            <a:spLocks xmlns:a="http://schemas.openxmlformats.org/drawingml/2006/main" noGrp="1"/>
          </p:cNvSpPr>
          <p:nvPr/>
        </p:nvSpPr>
        <p:spPr>
          <a:xfrm xmlns:a="http://schemas.openxmlformats.org/drawingml/2006/main">
            <a:off x="390525" y="26955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077E0C-D09D-4787-91A3-D57AF69C5F0A}"/>
              </a:ext>
            </a:extLst>
          </p:cNvPr>
          <p:cNvSpPr>
            <a:spLocks xmlns:a="http://schemas.openxmlformats.org/drawingml/2006/main" noGrp="1"/>
          </p:cNvSpPr>
          <p:nvPr/>
        </p:nvSpPr>
        <p:spPr>
          <a:xfrm xmlns:a="http://schemas.openxmlformats.org/drawingml/2006/main">
            <a:off x="657225" y="2619375"/>
            <a:ext cx="5019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i="0">
                <a:solidFill>
                  <a:srgbClr val="111318"/>
                </a:solidFill>
                <a:latin typeface="Helvetica Neue"/>
                <a:ea typeface="Helvetica Neue"/>
                <a:cs typeface="Helvetica Neue"/>
              </a:defRPr>
            </a:pPr>
            <a:r>
              <a:rPr sz="1800" b="0" i="0">
                <a:solidFill>
                  <a:srgbClr val="111318"/>
                </a:solidFill>
                <a:latin typeface="Helvetica Neue"/>
                <a:ea typeface="Helvetica Neue"/>
                <a:cs typeface="Helvetica Neue"/>
              </a:rPr>
              <a:t>You may have used AI for color correction.</a:t>
            </a:r>
          </a:p>
        </p:txBody>
      </p:sp>
      <p:sp>
        <p:nvSpPr>
          <p:cNvPr id="7" name="">
            <a:extLst xmlns:a="http://schemas.openxmlformats.org/drawingml/2006/main">
              <a:ext uri="{FF2B5EF4-FFF2-40B4-BE49-F238E27FC236}">
                <a16:creationId xmlns:a16="http://schemas.microsoft.com/office/drawing/2014/main" id="{8D5C86A8-1BCF-4119-B4D3-4878007D736C}"/>
              </a:ext>
            </a:extLst>
          </p:cNvPr>
          <p:cNvSpPr>
            <a:spLocks xmlns:a="http://schemas.openxmlformats.org/drawingml/2006/main" noGrp="1"/>
          </p:cNvSpPr>
          <p:nvPr/>
        </p:nvSpPr>
        <p:spPr>
          <a:xfrm xmlns:a="http://schemas.openxmlformats.org/drawingml/2006/main">
            <a:off x="390525" y="36480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881547-DD5F-4BC8-8080-A221EB85A481}"/>
              </a:ext>
            </a:extLst>
          </p:cNvPr>
          <p:cNvSpPr>
            <a:spLocks xmlns:a="http://schemas.openxmlformats.org/drawingml/2006/main" noGrp="1"/>
          </p:cNvSpPr>
          <p:nvPr/>
        </p:nvSpPr>
        <p:spPr>
          <a:xfrm xmlns:a="http://schemas.openxmlformats.org/drawingml/2006/main">
            <a:off x="657225" y="3571875"/>
            <a:ext cx="50196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i="0">
                <a:solidFill>
                  <a:srgbClr val="111318"/>
                </a:solidFill>
                <a:latin typeface="Helvetica Neue"/>
                <a:ea typeface="Helvetica Neue"/>
                <a:cs typeface="Helvetica Neue"/>
              </a:defRPr>
            </a:pPr>
            <a:r>
              <a:rPr sz="1800" b="0" i="0">
                <a:solidFill>
                  <a:srgbClr val="111318"/>
                </a:solidFill>
                <a:latin typeface="Helvetica Neue"/>
                <a:ea typeface="Helvetica Neue"/>
                <a:cs typeface="Helvetica Neue"/>
              </a:rPr>
              <a:t>The underlying system might preserve identifying metadata for both provenance and attribution use-cases.</a:t>
            </a:r>
          </a:p>
        </p:txBody>
      </p:sp>
      <p:sp>
        <p:nvSpPr>
          <p:cNvPr id="9" name="">
            <a:extLst xmlns:a="http://schemas.openxmlformats.org/drawingml/2006/main">
              <a:ext uri="{FF2B5EF4-FFF2-40B4-BE49-F238E27FC236}">
                <a16:creationId xmlns:a16="http://schemas.microsoft.com/office/drawing/2014/main" id="{0B32702B-1736-4B0E-9ACB-47D1A99A2791}"/>
              </a:ext>
            </a:extLst>
          </p:cNvPr>
          <p:cNvSpPr>
            <a:spLocks xmlns:a="http://schemas.openxmlformats.org/drawingml/2006/main" noGrp="1"/>
          </p:cNvSpPr>
          <p:nvPr/>
        </p:nvSpPr>
        <p:spPr>
          <a:xfrm xmlns:a="http://schemas.openxmlformats.org/drawingml/2006/main">
            <a:off x="390525" y="46005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5BEE54-91DD-490E-9E82-81635EDA7CF3}"/>
              </a:ext>
            </a:extLst>
          </p:cNvPr>
          <p:cNvSpPr>
            <a:spLocks xmlns:a="http://schemas.openxmlformats.org/drawingml/2006/main" noGrp="1"/>
          </p:cNvSpPr>
          <p:nvPr/>
        </p:nvSpPr>
        <p:spPr>
          <a:xfrm xmlns:a="http://schemas.openxmlformats.org/drawingml/2006/main">
            <a:off x="657225" y="4524375"/>
            <a:ext cx="5019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i="0">
                <a:solidFill>
                  <a:srgbClr val="111318"/>
                </a:solidFill>
                <a:latin typeface="Helvetica Neue"/>
                <a:ea typeface="Helvetica Neue"/>
                <a:cs typeface="Helvetica Neue"/>
              </a:defRPr>
            </a:pPr>
            <a:r>
              <a:rPr sz="1800" b="0" i="0">
                <a:solidFill>
                  <a:srgbClr val="111318"/>
                </a:solidFill>
                <a:latin typeface="Helvetica Neue"/>
                <a:ea typeface="Helvetica Neue"/>
                <a:cs typeface="Helvetica Neue"/>
              </a:rPr>
              <a:t>The recipient may need one trust signal (or none), not the full record.</a:t>
            </a:r>
          </a:p>
        </p:txBody>
      </p:sp>
      <p:sp>
        <p:nvSpPr>
          <p:cNvPr id="11" name="">
            <a:extLst xmlns:a="http://schemas.openxmlformats.org/drawingml/2006/main">
              <a:ext uri="{FF2B5EF4-FFF2-40B4-BE49-F238E27FC236}">
                <a16:creationId xmlns:a16="http://schemas.microsoft.com/office/drawing/2014/main" id="{A00EF178-F241-453B-A15C-4D8A313474A3}"/>
              </a:ext>
            </a:extLst>
          </p:cNvPr>
          <p:cNvSpPr>
            <a:spLocks xmlns:a="http://schemas.openxmlformats.org/drawingml/2006/main" noGrp="1"/>
          </p:cNvSpPr>
          <p:nvPr/>
        </p:nvSpPr>
        <p:spPr>
          <a:xfrm xmlns:a="http://schemas.openxmlformats.org/drawingml/2006/main">
            <a:off x="6267450" y="1466850"/>
            <a:ext cx="5534025" cy="4476750"/>
          </a:xfrm>
          <a:prstGeom xmlns:a="http://schemas.openxmlformats.org/drawingml/2006/main" prst="rect">
            <a:avLst/>
          </a:prstGeom>
          <a:solidFill xmlns:a="http://schemas.openxmlformats.org/drawingml/2006/main">
            <a:srgbClr val="EAF5FB"/>
          </a:solidFill>
          <a:ln xmlns:a="http://schemas.openxmlformats.org/drawingml/2006/main" w="9525">
            <a:solidFill>
              <a:srgbClr val="BBC3CC"/>
            </a:solidFill>
            <a:prstDash val="solid"/>
          </a:ln>
        </p:spPr>
      </p:sp>
      <p:sp>
        <p:nvSpPr>
          <p:cNvPr id="12" name="">
            <a:extLst xmlns:a="http://schemas.openxmlformats.org/drawingml/2006/main">
              <a:ext uri="{FF2B5EF4-FFF2-40B4-BE49-F238E27FC236}">
                <a16:creationId xmlns:a16="http://schemas.microsoft.com/office/drawing/2014/main" id="{3509E9A6-C156-41BD-86E8-EE089039C797}"/>
              </a:ext>
            </a:extLst>
          </p:cNvPr>
          <p:cNvSpPr>
            <a:spLocks xmlns:a="http://schemas.openxmlformats.org/drawingml/2006/main" noGrp="1"/>
          </p:cNvSpPr>
          <p:nvPr/>
        </p:nvSpPr>
        <p:spPr>
          <a:xfrm xmlns:a="http://schemas.openxmlformats.org/drawingml/2006/main">
            <a:off x="7105650" y="3657600"/>
            <a:ext cx="904875" cy="953"/>
          </a:xfrm>
          <a:prstGeom xmlns:a="http://schemas.openxmlformats.org/drawingml/2006/main" prst="line">
            <a:avLst/>
          </a:prstGeom>
          <a:noFill xmlns:a="http://schemas.openxmlformats.org/drawingml/2006/main"/>
          <a:ln xmlns:a="http://schemas.openxmlformats.org/drawingml/2006/main" w="28575">
            <a:solidFill>
              <a:srgbClr val="BBC3CC"/>
            </a:solidFill>
            <a:prstDash val="solid"/>
          </a:ln>
        </p:spPr>
      </p:sp>
      <p:sp>
        <p:nvSpPr>
          <p:cNvPr id="13" name="">
            <a:extLst xmlns:a="http://schemas.openxmlformats.org/drawingml/2006/main">
              <a:ext uri="{FF2B5EF4-FFF2-40B4-BE49-F238E27FC236}">
                <a16:creationId xmlns:a16="http://schemas.microsoft.com/office/drawing/2014/main" id="{B752E121-EFCC-4E47-A5C1-A5ED8DE7D223}"/>
              </a:ext>
            </a:extLst>
          </p:cNvPr>
          <p:cNvSpPr>
            <a:spLocks xmlns:a="http://schemas.openxmlformats.org/drawingml/2006/main" noGrp="1"/>
          </p:cNvSpPr>
          <p:nvPr/>
        </p:nvSpPr>
        <p:spPr>
          <a:xfrm xmlns:a="http://schemas.openxmlformats.org/drawingml/2006/main" flipV="1">
            <a:off x="9886950" y="2571750"/>
            <a:ext cx="1095375" cy="666750"/>
          </a:xfrm>
          <a:prstGeom xmlns:a="http://schemas.openxmlformats.org/drawingml/2006/main" prst="line">
            <a:avLst/>
          </a:prstGeom>
          <a:noFill xmlns:a="http://schemas.openxmlformats.org/drawingml/2006/main"/>
          <a:ln xmlns:a="http://schemas.openxmlformats.org/drawingml/2006/main" w="28575">
            <a:solidFill>
              <a:srgbClr val="BBC3CC"/>
            </a:solidFill>
            <a:prstDash val="solid"/>
          </a:ln>
        </p:spPr>
      </p:sp>
      <p:sp>
        <p:nvSpPr>
          <p:cNvPr id="14" name="">
            <a:extLst xmlns:a="http://schemas.openxmlformats.org/drawingml/2006/main">
              <a:ext uri="{FF2B5EF4-FFF2-40B4-BE49-F238E27FC236}">
                <a16:creationId xmlns:a16="http://schemas.microsoft.com/office/drawing/2014/main" id="{DC332A7E-F829-4B82-89CF-0EEDFBAF8163}"/>
              </a:ext>
            </a:extLst>
          </p:cNvPr>
          <p:cNvSpPr>
            <a:spLocks xmlns:a="http://schemas.openxmlformats.org/drawingml/2006/main" noGrp="1"/>
          </p:cNvSpPr>
          <p:nvPr/>
        </p:nvSpPr>
        <p:spPr>
          <a:xfrm xmlns:a="http://schemas.openxmlformats.org/drawingml/2006/main">
            <a:off x="9886950" y="3905250"/>
            <a:ext cx="1095375" cy="666750"/>
          </a:xfrm>
          <a:prstGeom xmlns:a="http://schemas.openxmlformats.org/drawingml/2006/main" prst="line">
            <a:avLst/>
          </a:prstGeom>
          <a:noFill xmlns:a="http://schemas.openxmlformats.org/drawingml/2006/main"/>
          <a:ln xmlns:a="http://schemas.openxmlformats.org/drawingml/2006/main" w="28575">
            <a:solidFill>
              <a:srgbClr val="BBC3CC"/>
            </a:solidFill>
            <a:prstDash val="solid"/>
          </a:ln>
        </p:spPr>
      </p:sp>
      <p:sp>
        <p:nvSpPr>
          <p:cNvPr id="15" name="">
            <a:extLst xmlns:a="http://schemas.openxmlformats.org/drawingml/2006/main">
              <a:ext uri="{FF2B5EF4-FFF2-40B4-BE49-F238E27FC236}">
                <a16:creationId xmlns:a16="http://schemas.microsoft.com/office/drawing/2014/main" id="{17E3ADC3-54B2-4A78-BF6F-6CE61194A96F}"/>
              </a:ext>
            </a:extLst>
          </p:cNvPr>
          <p:cNvSpPr>
            <a:spLocks xmlns:a="http://schemas.openxmlformats.org/drawingml/2006/main" noGrp="1"/>
          </p:cNvSpPr>
          <p:nvPr/>
        </p:nvSpPr>
        <p:spPr>
          <a:xfrm xmlns:a="http://schemas.openxmlformats.org/drawingml/2006/main">
            <a:off x="6419850" y="3238500"/>
            <a:ext cx="838200" cy="838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318"/>
            </a:solidFill>
            <a:prstDash val="solid"/>
          </a:ln>
        </p:spPr>
      </p:sp>
      <p:sp>
        <p:nvSpPr>
          <p:cNvPr id="16" name="">
            <a:extLst xmlns:a="http://schemas.openxmlformats.org/drawingml/2006/main">
              <a:ext uri="{FF2B5EF4-FFF2-40B4-BE49-F238E27FC236}">
                <a16:creationId xmlns:a16="http://schemas.microsoft.com/office/drawing/2014/main" id="{AC48D499-9C7A-491D-B825-78E0C47B7269}"/>
              </a:ext>
            </a:extLst>
          </p:cNvPr>
          <p:cNvSpPr>
            <a:spLocks xmlns:a="http://schemas.openxmlformats.org/drawingml/2006/main" noGrp="1"/>
          </p:cNvSpPr>
          <p:nvPr/>
        </p:nvSpPr>
        <p:spPr>
          <a:xfrm xmlns:a="http://schemas.openxmlformats.org/drawingml/2006/main">
            <a:off x="6429375" y="3495675"/>
            <a:ext cx="819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YOU</a:t>
            </a:r>
          </a:p>
        </p:txBody>
      </p:sp>
      <p:sp>
        <p:nvSpPr>
          <p:cNvPr id="17" name="">
            <a:extLst xmlns:a="http://schemas.openxmlformats.org/drawingml/2006/main">
              <a:ext uri="{FF2B5EF4-FFF2-40B4-BE49-F238E27FC236}">
                <a16:creationId xmlns:a16="http://schemas.microsoft.com/office/drawing/2014/main" id="{262ABC54-A741-4579-82E7-FD0066E5392B}"/>
              </a:ext>
            </a:extLst>
          </p:cNvPr>
          <p:cNvSpPr>
            <a:spLocks xmlns:a="http://schemas.openxmlformats.org/drawingml/2006/main" noGrp="1"/>
          </p:cNvSpPr>
          <p:nvPr/>
        </p:nvSpPr>
        <p:spPr>
          <a:xfrm xmlns:a="http://schemas.openxmlformats.org/drawingml/2006/main">
            <a:off x="8020050" y="2724150"/>
            <a:ext cx="1885950" cy="1866900"/>
          </a:xfrm>
          <a:prstGeom xmlns:a="http://schemas.openxmlformats.org/drawingml/2006/main" prst="rect">
            <a:avLst/>
          </a:prstGeom>
          <a:solidFill xmlns:a="http://schemas.openxmlformats.org/drawingml/2006/main">
            <a:srgbClr val="FFFFFF"/>
          </a:solidFill>
          <a:ln xmlns:a="http://schemas.openxmlformats.org/drawingml/2006/main" w="19050">
            <a:solidFill>
              <a:srgbClr val="111318"/>
            </a:solidFill>
            <a:prstDash val="solid"/>
          </a:ln>
        </p:spPr>
      </p:sp>
      <p:sp>
        <p:nvSpPr>
          <p:cNvPr id="18" name="">
            <a:extLst xmlns:a="http://schemas.openxmlformats.org/drawingml/2006/main">
              <a:ext uri="{FF2B5EF4-FFF2-40B4-BE49-F238E27FC236}">
                <a16:creationId xmlns:a16="http://schemas.microsoft.com/office/drawing/2014/main" id="{4D0644AA-3DAF-4014-8652-29A0C4E04592}"/>
              </a:ext>
            </a:extLst>
          </p:cNvPr>
          <p:cNvSpPr>
            <a:spLocks xmlns:a="http://schemas.openxmlformats.org/drawingml/2006/main" noGrp="1"/>
          </p:cNvSpPr>
          <p:nvPr/>
        </p:nvSpPr>
        <p:spPr>
          <a:xfrm xmlns:a="http://schemas.openxmlformats.org/drawingml/2006/main">
            <a:off x="8229600" y="2933700"/>
            <a:ext cx="146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765"/>
          </a:bodyPr>
          <a:lstStyle xmlns:a="http://schemas.openxmlformats.org/drawingml/2006/main"/>
          <a:p xmlns:a="http://schemas.openxmlformats.org/drawingml/2006/main">
            <a:pPr algn="ctr">
              <a:buNone/>
              <a:defRPr sz="2025" b="1" i="0">
                <a:solidFill>
                  <a:srgbClr val="111318"/>
                </a:solidFill>
                <a:latin typeface="Helvetica Neue"/>
                <a:ea typeface="Helvetica Neue"/>
                <a:cs typeface="Helvetica Neue"/>
              </a:defRPr>
            </a:pPr>
            <a:r>
              <a:rPr sz="2025" b="1" i="0">
                <a:solidFill>
                  <a:srgbClr val="111318"/>
                </a:solidFill>
                <a:latin typeface="Helvetica Neue"/>
                <a:ea typeface="Helvetica Neue"/>
                <a:cs typeface="Helvetica Neue"/>
              </a:rPr>
              <a:t>PHOTO +</a:t>
            </a:r>
          </a:p>
          <a:p xmlns:a="http://schemas.openxmlformats.org/drawingml/2006/main">
            <a:pPr algn="ctr">
              <a:buNone/>
              <a:defRPr sz="2025" b="1" i="0">
                <a:solidFill>
                  <a:srgbClr val="111318"/>
                </a:solidFill>
                <a:latin typeface="Helvetica Neue"/>
                <a:ea typeface="Helvetica Neue"/>
                <a:cs typeface="Helvetica Neue"/>
              </a:defRPr>
            </a:pPr>
            <a:r>
              <a:rPr sz="2025" b="1" i="0">
                <a:solidFill>
                  <a:srgbClr val="111318"/>
                </a:solidFill>
                <a:latin typeface="Helvetica Neue"/>
                <a:ea typeface="Helvetica Neue"/>
                <a:cs typeface="Helvetica Neue"/>
              </a:rPr>
              <a:t>C2PA</a:t>
            </a:r>
          </a:p>
        </p:txBody>
      </p:sp>
      <p:sp>
        <p:nvSpPr>
          <p:cNvPr id="19" name="">
            <a:extLst xmlns:a="http://schemas.openxmlformats.org/drawingml/2006/main">
              <a:ext uri="{FF2B5EF4-FFF2-40B4-BE49-F238E27FC236}">
                <a16:creationId xmlns:a16="http://schemas.microsoft.com/office/drawing/2014/main" id="{A2A136F5-949E-4C8E-AB87-B247CEC92B18}"/>
              </a:ext>
            </a:extLst>
          </p:cNvPr>
          <p:cNvSpPr>
            <a:spLocks xmlns:a="http://schemas.openxmlformats.org/drawingml/2006/main" noGrp="1"/>
          </p:cNvSpPr>
          <p:nvPr/>
        </p:nvSpPr>
        <p:spPr>
          <a:xfrm xmlns:a="http://schemas.openxmlformats.org/drawingml/2006/main">
            <a:off x="8286750" y="3648075"/>
            <a:ext cx="13525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20" name="">
            <a:extLst xmlns:a="http://schemas.openxmlformats.org/drawingml/2006/main">
              <a:ext uri="{FF2B5EF4-FFF2-40B4-BE49-F238E27FC236}">
                <a16:creationId xmlns:a16="http://schemas.microsoft.com/office/drawing/2014/main" id="{B77D5128-F89C-4EC3-A1C3-83011769F03D}"/>
              </a:ext>
            </a:extLst>
          </p:cNvPr>
          <p:cNvSpPr>
            <a:spLocks xmlns:a="http://schemas.openxmlformats.org/drawingml/2006/main" noGrp="1"/>
          </p:cNvSpPr>
          <p:nvPr/>
        </p:nvSpPr>
        <p:spPr>
          <a:xfrm xmlns:a="http://schemas.openxmlformats.org/drawingml/2006/main">
            <a:off x="8334375" y="3743325"/>
            <a:ext cx="12763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814"/>
          </a:bodyPr>
          <a:lstStyle xmlns:a="http://schemas.openxmlformats.org/drawingml/2006/main"/>
          <a:p xmlns:a="http://schemas.openxmlformats.org/drawingml/2006/main">
            <a:pPr algn="ctr">
              <a:buNone/>
              <a:defRPr sz="1275" b="0" i="0">
                <a:solidFill>
                  <a:srgbClr val="555D69"/>
                </a:solidFill>
                <a:latin typeface="Helvetica Neue"/>
                <a:ea typeface="Helvetica Neue"/>
                <a:cs typeface="Helvetica Neue"/>
              </a:defRPr>
            </a:pPr>
            <a:r>
              <a:rPr sz="1275" b="0" i="0">
                <a:solidFill>
                  <a:srgbClr val="555D69"/>
                </a:solidFill>
                <a:latin typeface="Helvetica Neue"/>
                <a:ea typeface="Helvetica Neue"/>
                <a:cs typeface="Helvetica Neue"/>
              </a:rPr>
              <a:t>MAY INCLUDE</a:t>
            </a:r>
          </a:p>
          <a:p xmlns:a="http://schemas.openxmlformats.org/drawingml/2006/main">
            <a:pPr algn="ctr">
              <a:buNone/>
              <a:defRPr sz="1275" b="0" i="0">
                <a:solidFill>
                  <a:srgbClr val="555D69"/>
                </a:solidFill>
                <a:latin typeface="Helvetica Neue"/>
                <a:ea typeface="Helvetica Neue"/>
                <a:cs typeface="Helvetica Neue"/>
              </a:defRPr>
            </a:pPr>
            <a:r>
              <a:rPr sz="1275" b="0" i="0">
                <a:solidFill>
                  <a:srgbClr val="555D69"/>
                </a:solidFill>
                <a:latin typeface="Helvetica Neue"/>
                <a:ea typeface="Helvetica Neue"/>
                <a:cs typeface="Helvetica Neue"/>
              </a:rPr>
              <a:t>tool or device ID</a:t>
            </a:r>
          </a:p>
          <a:p xmlns:a="http://schemas.openxmlformats.org/drawingml/2006/main">
            <a:pPr algn="ctr">
              <a:buNone/>
              <a:defRPr sz="1275" b="0" i="0">
                <a:solidFill>
                  <a:srgbClr val="555D69"/>
                </a:solidFill>
                <a:latin typeface="Helvetica Neue"/>
                <a:ea typeface="Helvetica Neue"/>
                <a:cs typeface="Helvetica Neue"/>
              </a:defRPr>
            </a:pPr>
            <a:r>
              <a:rPr sz="1275" b="0" i="0">
                <a:solidFill>
                  <a:srgbClr val="555D69"/>
                </a:solidFill>
                <a:latin typeface="Helvetica Neue"/>
                <a:ea typeface="Helvetica Neue"/>
                <a:cs typeface="Helvetica Neue"/>
              </a:rPr>
              <a:t>account detail</a:t>
            </a:r>
          </a:p>
          <a:p xmlns:a="http://schemas.openxmlformats.org/drawingml/2006/main">
            <a:pPr algn="ctr">
              <a:buNone/>
              <a:defRPr sz="1275" b="0" i="0">
                <a:solidFill>
                  <a:srgbClr val="555D69"/>
                </a:solidFill>
                <a:latin typeface="Helvetica Neue"/>
                <a:ea typeface="Helvetica Neue"/>
                <a:cs typeface="Helvetica Neue"/>
              </a:defRPr>
            </a:pPr>
            <a:r>
              <a:rPr sz="1275" b="0" i="0">
                <a:solidFill>
                  <a:srgbClr val="555D69"/>
                </a:solidFill>
                <a:latin typeface="Helvetica Neue"/>
                <a:ea typeface="Helvetica Neue"/>
                <a:cs typeface="Helvetica Neue"/>
              </a:rPr>
              <a:t>time or location</a:t>
            </a:r>
          </a:p>
        </p:txBody>
      </p:sp>
      <p:sp>
        <p:nvSpPr>
          <p:cNvPr id="21" name="">
            <a:extLst xmlns:a="http://schemas.openxmlformats.org/drawingml/2006/main">
              <a:ext uri="{FF2B5EF4-FFF2-40B4-BE49-F238E27FC236}">
                <a16:creationId xmlns:a16="http://schemas.microsoft.com/office/drawing/2014/main" id="{75385267-29A4-4B04-9325-6B5397A2F0CF}"/>
              </a:ext>
            </a:extLst>
          </p:cNvPr>
          <p:cNvSpPr>
            <a:spLocks xmlns:a="http://schemas.openxmlformats.org/drawingml/2006/main" noGrp="1"/>
          </p:cNvSpPr>
          <p:nvPr/>
        </p:nvSpPr>
        <p:spPr>
          <a:xfrm xmlns:a="http://schemas.openxmlformats.org/drawingml/2006/main">
            <a:off x="10953750" y="2152650"/>
            <a:ext cx="647700" cy="876300"/>
          </a:xfrm>
          <a:prstGeom xmlns:a="http://schemas.openxmlformats.org/drawingml/2006/main" prst="rect">
            <a:avLst/>
          </a:prstGeom>
          <a:solidFill xmlns:a="http://schemas.openxmlformats.org/drawingml/2006/main">
            <a:srgbClr val="D7EDFA"/>
          </a:solidFill>
          <a:ln xmlns:a="http://schemas.openxmlformats.org/drawingml/2006/main" w="9525">
            <a:solidFill>
              <a:srgbClr val="3D8DFF"/>
            </a:solidFill>
            <a:prstDash val="solid"/>
          </a:ln>
        </p:spPr>
      </p:sp>
      <p:sp>
        <p:nvSpPr>
          <p:cNvPr id="22" name="">
            <a:extLst xmlns:a="http://schemas.openxmlformats.org/drawingml/2006/main">
              <a:ext uri="{FF2B5EF4-FFF2-40B4-BE49-F238E27FC236}">
                <a16:creationId xmlns:a16="http://schemas.microsoft.com/office/drawing/2014/main" id="{4DEFDFF1-81B0-4D05-9EF7-7CC15D3695DD}"/>
              </a:ext>
            </a:extLst>
          </p:cNvPr>
          <p:cNvSpPr>
            <a:spLocks xmlns:a="http://schemas.openxmlformats.org/drawingml/2006/main" noGrp="1"/>
          </p:cNvSpPr>
          <p:nvPr/>
        </p:nvSpPr>
        <p:spPr>
          <a:xfrm xmlns:a="http://schemas.openxmlformats.org/drawingml/2006/main">
            <a:off x="10972800" y="2400300"/>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SHARE</a:t>
            </a:r>
          </a:p>
        </p:txBody>
      </p:sp>
      <p:sp>
        <p:nvSpPr>
          <p:cNvPr id="23" name="">
            <a:extLst xmlns:a="http://schemas.openxmlformats.org/drawingml/2006/main">
              <a:ext uri="{FF2B5EF4-FFF2-40B4-BE49-F238E27FC236}">
                <a16:creationId xmlns:a16="http://schemas.microsoft.com/office/drawing/2014/main" id="{C0A8D3F2-F956-4FBC-9B15-0CBB35453C60}"/>
              </a:ext>
            </a:extLst>
          </p:cNvPr>
          <p:cNvSpPr>
            <a:spLocks xmlns:a="http://schemas.openxmlformats.org/drawingml/2006/main" noGrp="1"/>
          </p:cNvSpPr>
          <p:nvPr/>
        </p:nvSpPr>
        <p:spPr>
          <a:xfrm xmlns:a="http://schemas.openxmlformats.org/drawingml/2006/main">
            <a:off x="10953750" y="4305300"/>
            <a:ext cx="6477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111318"/>
            </a:solidFill>
            <a:prstDash val="solid"/>
          </a:ln>
        </p:spPr>
      </p:sp>
      <p:sp>
        <p:nvSpPr>
          <p:cNvPr id="24" name="">
            <a:extLst xmlns:a="http://schemas.openxmlformats.org/drawingml/2006/main">
              <a:ext uri="{FF2B5EF4-FFF2-40B4-BE49-F238E27FC236}">
                <a16:creationId xmlns:a16="http://schemas.microsoft.com/office/drawing/2014/main" id="{5958E177-6578-4664-8E37-164A55823A87}"/>
              </a:ext>
            </a:extLst>
          </p:cNvPr>
          <p:cNvSpPr>
            <a:spLocks xmlns:a="http://schemas.openxmlformats.org/drawingml/2006/main" noGrp="1"/>
          </p:cNvSpPr>
          <p:nvPr/>
        </p:nvSpPr>
        <p:spPr>
          <a:xfrm xmlns:a="http://schemas.openxmlformats.org/drawingml/2006/main">
            <a:off x="10972800" y="4552950"/>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8816"/>
          </a:bodyPr>
          <a:lstStyle xmlns:a="http://schemas.openxmlformats.org/drawingml/2006/main"/>
          <a:p xmlns:a="http://schemas.openxmlformats.org/drawingml/2006/main">
            <a:pPr algn="ctr">
              <a:buNone/>
              <a:defRPr sz="1200" b="1" i="0">
                <a:solidFill>
                  <a:srgbClr val="111318"/>
                </a:solidFill>
                <a:latin typeface="Helvetica Neue"/>
                <a:ea typeface="Helvetica Neue"/>
                <a:cs typeface="Helvetica Neue"/>
              </a:defRPr>
            </a:pPr>
            <a:r>
              <a:rPr sz="1200" b="1" i="0">
                <a:solidFill>
                  <a:srgbClr val="111318"/>
                </a:solidFill>
                <a:latin typeface="Helvetica Neue"/>
                <a:ea typeface="Helvetica Neue"/>
                <a:cs typeface="Helvetica Neue"/>
              </a:rPr>
              <a:t>EXPOSE</a:t>
            </a:r>
          </a:p>
        </p:txBody>
      </p:sp>
      <p:sp>
        <p:nvSpPr>
          <p:cNvPr id="25" name="">
            <a:extLst xmlns:a="http://schemas.openxmlformats.org/drawingml/2006/main">
              <a:ext uri="{FF2B5EF4-FFF2-40B4-BE49-F238E27FC236}">
                <a16:creationId xmlns:a16="http://schemas.microsoft.com/office/drawing/2014/main" id="{C296012A-DCED-4D49-B279-FB1F08B53647}"/>
              </a:ext>
            </a:extLst>
          </p:cNvPr>
          <p:cNvSpPr>
            <a:spLocks xmlns:a="http://schemas.openxmlformats.org/drawingml/2006/main" noGrp="1"/>
          </p:cNvSpPr>
          <p:nvPr/>
        </p:nvSpPr>
        <p:spPr>
          <a:xfrm xmlns:a="http://schemas.openxmlformats.org/drawingml/2006/main">
            <a:off x="6524625" y="5429250"/>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40"/>
          </a:bodyPr>
          <a:lstStyle xmlns:a="http://schemas.openxmlformats.org/drawingml/2006/main"/>
          <a:p xmlns:a="http://schemas.openxmlformats.org/drawingml/2006/main">
            <a:pPr algn="ctr">
              <a:buNone/>
              <a:defRPr sz="1575" b="0" i="0">
                <a:solidFill>
                  <a:srgbClr val="555D69"/>
                </a:solidFill>
                <a:latin typeface="Helvetica Neue"/>
                <a:ea typeface="Helvetica Neue"/>
                <a:cs typeface="Helvetica Neue"/>
              </a:defRPr>
            </a:pPr>
            <a:r>
              <a:rPr sz="1575" b="0" i="0">
                <a:solidFill>
                  <a:srgbClr val="555D69"/>
                </a:solidFill>
                <a:latin typeface="Helvetica Neue"/>
                <a:ea typeface="Helvetica Neue"/>
                <a:cs typeface="Helvetica Neue"/>
              </a:rPr>
              <a:t>The workflow may disclose more than the relationship requires.</a:t>
            </a:r>
          </a:p>
        </p:txBody>
      </p:sp>
      <p:sp>
        <p:nvSpPr>
          <p:cNvPr id="27" name="ISOPE required footer">
            <a:extLst xmlns:a="http://schemas.openxmlformats.org/drawingml/2006/main">
              <a:ext uri="{FF2B5EF4-FFF2-40B4-BE49-F238E27FC236}">
                <a16:creationId xmlns:a16="http://schemas.microsoft.com/office/drawing/2014/main" id="{56ED2E03-E92A-44D3-8CE4-75D7EC4B5831}"/>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6622367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4-title">
            <a:extLst xmlns:a="http://schemas.openxmlformats.org/drawingml/2006/main">
              <a:ext uri="{FF2B5EF4-FFF2-40B4-BE49-F238E27FC236}">
                <a16:creationId xmlns:a16="http://schemas.microsoft.com/office/drawing/2014/main" id="{749A1591-D269-48E7-9E97-B03994579F8C}"/>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This is no longer a theoretical problem</a:t>
            </a:r>
          </a:p>
        </p:txBody>
      </p:sp>
      <p:sp>
        <p:nvSpPr>
          <p:cNvPr id="2" name="">
            <a:extLst xmlns:a="http://schemas.openxmlformats.org/drawingml/2006/main">
              <a:ext uri="{FF2B5EF4-FFF2-40B4-BE49-F238E27FC236}">
                <a16:creationId xmlns:a16="http://schemas.microsoft.com/office/drawing/2014/main" id="{D7E9FAB8-E1BF-4F94-A61B-507DD59C4047}"/>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4-number">
            <a:extLst xmlns:a="http://schemas.openxmlformats.org/drawingml/2006/main">
              <a:ext uri="{FF2B5EF4-FFF2-40B4-BE49-F238E27FC236}">
                <a16:creationId xmlns:a16="http://schemas.microsoft.com/office/drawing/2014/main" id="{9173E3AA-FC50-4D41-9B86-20F14DF04BCB}"/>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3F6C988E-FD09-4CF8-BD27-B870F80A5B63}"/>
              </a:ext>
            </a:extLst>
          </p:cNvPr>
          <p:cNvSpPr>
            <a:spLocks xmlns:a="http://schemas.openxmlformats.org/drawingml/2006/main" noGrp="1"/>
          </p:cNvSpPr>
          <p:nvPr/>
        </p:nvSpPr>
        <p:spPr>
          <a:xfrm xmlns:a="http://schemas.openxmlformats.org/drawingml/2006/main">
            <a:off x="390525" y="139065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0" i="0">
                <a:solidFill>
                  <a:srgbClr val="555D69"/>
                </a:solidFill>
                <a:latin typeface="Helvetica Neue"/>
                <a:ea typeface="Helvetica Neue"/>
                <a:cs typeface="Helvetica Neue"/>
              </a:defRPr>
            </a:pPr>
            <a:r>
              <a:rPr sz="2100" b="0" i="0">
                <a:solidFill>
                  <a:srgbClr val="555D69"/>
                </a:solidFill>
                <a:latin typeface="Helvetica Neue"/>
                <a:ea typeface="Helvetica Neue"/>
                <a:cs typeface="Helvetica Neue"/>
              </a:rPr>
              <a:t>June 2026 synthetic, non-user corpus:</a:t>
            </a:r>
          </a:p>
        </p:txBody>
      </p:sp>
      <p:sp>
        <p:nvSpPr>
          <p:cNvPr id="5" name="">
            <a:extLst xmlns:a="http://schemas.openxmlformats.org/drawingml/2006/main">
              <a:ext uri="{FF2B5EF4-FFF2-40B4-BE49-F238E27FC236}">
                <a16:creationId xmlns:a16="http://schemas.microsoft.com/office/drawing/2014/main" id="{C206D1A8-538D-406A-A22D-91A5BE0CE518}"/>
              </a:ext>
            </a:extLst>
          </p:cNvPr>
          <p:cNvSpPr>
            <a:spLocks xmlns:a="http://schemas.openxmlformats.org/drawingml/2006/main" noGrp="1"/>
          </p:cNvSpPr>
          <p:nvPr/>
        </p:nvSpPr>
        <p:spPr>
          <a:xfrm xmlns:a="http://schemas.openxmlformats.org/drawingml/2006/main">
            <a:off x="390525" y="2647950"/>
            <a:ext cx="3571875" cy="2857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DD69BC7-2BDA-4B22-94F8-BAA5475EA686}"/>
              </a:ext>
            </a:extLst>
          </p:cNvPr>
          <p:cNvSpPr>
            <a:spLocks xmlns:a="http://schemas.openxmlformats.org/drawingml/2006/main" noGrp="1"/>
          </p:cNvSpPr>
          <p:nvPr/>
        </p:nvSpPr>
        <p:spPr>
          <a:xfrm xmlns:a="http://schemas.openxmlformats.org/drawingml/2006/main">
            <a:off x="676275" y="3276600"/>
            <a:ext cx="3000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4350" b="1" i="0">
                <a:solidFill>
                  <a:srgbClr val="185D9D"/>
                </a:solidFill>
                <a:latin typeface="Helvetica Neue"/>
                <a:ea typeface="Helvetica Neue"/>
                <a:cs typeface="Helvetica Neue"/>
              </a:defRPr>
            </a:pPr>
            <a:r>
              <a:rPr sz="4350" b="1" i="0">
                <a:solidFill>
                  <a:srgbClr val="185D9D"/>
                </a:solidFill>
                <a:latin typeface="Helvetica Neue"/>
                <a:ea typeface="Helvetica Neue"/>
                <a:cs typeface="Helvetica Neue"/>
              </a:rPr>
              <a:t>1,000,000</a:t>
            </a:r>
          </a:p>
        </p:txBody>
      </p:sp>
      <p:sp>
        <p:nvSpPr>
          <p:cNvPr id="7" name="">
            <a:extLst xmlns:a="http://schemas.openxmlformats.org/drawingml/2006/main">
              <a:ext uri="{FF2B5EF4-FFF2-40B4-BE49-F238E27FC236}">
                <a16:creationId xmlns:a16="http://schemas.microsoft.com/office/drawing/2014/main" id="{E14F6A90-8EFA-40D0-8BA9-25468614BB0E}"/>
              </a:ext>
            </a:extLst>
          </p:cNvPr>
          <p:cNvSpPr>
            <a:spLocks xmlns:a="http://schemas.openxmlformats.org/drawingml/2006/main" noGrp="1"/>
          </p:cNvSpPr>
          <p:nvPr/>
        </p:nvSpPr>
        <p:spPr>
          <a:xfrm xmlns:a="http://schemas.openxmlformats.org/drawingml/2006/main">
            <a:off x="676275" y="4419600"/>
            <a:ext cx="300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67"/>
          </a:bodyPr>
          <a:lstStyle xmlns:a="http://schemas.openxmlformats.org/drawingml/2006/main"/>
          <a:p xmlns:a="http://schemas.openxmlformats.org/drawingml/2006/main">
            <a:pPr algn="l">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multimodal generated outputs</a:t>
            </a:r>
          </a:p>
        </p:txBody>
      </p:sp>
      <p:sp>
        <p:nvSpPr>
          <p:cNvPr id="8" name="">
            <a:extLst xmlns:a="http://schemas.openxmlformats.org/drawingml/2006/main">
              <a:ext uri="{FF2B5EF4-FFF2-40B4-BE49-F238E27FC236}">
                <a16:creationId xmlns:a16="http://schemas.microsoft.com/office/drawing/2014/main" id="{FA00B61D-617B-4CAD-A01B-93E251593EC5}"/>
              </a:ext>
            </a:extLst>
          </p:cNvPr>
          <p:cNvSpPr>
            <a:spLocks xmlns:a="http://schemas.openxmlformats.org/drawingml/2006/main" noGrp="1"/>
          </p:cNvSpPr>
          <p:nvPr/>
        </p:nvSpPr>
        <p:spPr>
          <a:xfrm xmlns:a="http://schemas.openxmlformats.org/drawingml/2006/main">
            <a:off x="4314825" y="2647950"/>
            <a:ext cx="3571875" cy="2857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13FAF7-EEBB-4595-A158-3573765FDFCC}"/>
              </a:ext>
            </a:extLst>
          </p:cNvPr>
          <p:cNvSpPr>
            <a:spLocks xmlns:a="http://schemas.openxmlformats.org/drawingml/2006/main" noGrp="1"/>
          </p:cNvSpPr>
          <p:nvPr/>
        </p:nvSpPr>
        <p:spPr>
          <a:xfrm xmlns:a="http://schemas.openxmlformats.org/drawingml/2006/main">
            <a:off x="4600575" y="3276600"/>
            <a:ext cx="3000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4350" b="1" i="0">
                <a:solidFill>
                  <a:srgbClr val="185D9D"/>
                </a:solidFill>
                <a:latin typeface="Helvetica Neue"/>
                <a:ea typeface="Helvetica Neue"/>
                <a:cs typeface="Helvetica Neue"/>
              </a:defRPr>
            </a:pPr>
            <a:r>
              <a:rPr sz="4350" b="1" i="0">
                <a:solidFill>
                  <a:srgbClr val="185D9D"/>
                </a:solidFill>
                <a:latin typeface="Helvetica Neue"/>
                <a:ea typeface="Helvetica Neue"/>
                <a:cs typeface="Helvetica Neue"/>
              </a:rPr>
              <a:t>10</a:t>
            </a:r>
          </a:p>
        </p:txBody>
      </p:sp>
      <p:sp>
        <p:nvSpPr>
          <p:cNvPr id="10" name="">
            <a:extLst xmlns:a="http://schemas.openxmlformats.org/drawingml/2006/main">
              <a:ext uri="{FF2B5EF4-FFF2-40B4-BE49-F238E27FC236}">
                <a16:creationId xmlns:a16="http://schemas.microsoft.com/office/drawing/2014/main" id="{122640FE-5D2E-44CB-BB58-38BAF0A3F9E8}"/>
              </a:ext>
            </a:extLst>
          </p:cNvPr>
          <p:cNvSpPr>
            <a:spLocks xmlns:a="http://schemas.openxmlformats.org/drawingml/2006/main" noGrp="1"/>
          </p:cNvSpPr>
          <p:nvPr/>
        </p:nvSpPr>
        <p:spPr>
          <a:xfrm xmlns:a="http://schemas.openxmlformats.org/drawingml/2006/main">
            <a:off x="4600575" y="4419600"/>
            <a:ext cx="300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67"/>
          </a:bodyPr>
          <a:lstStyle xmlns:a="http://schemas.openxmlformats.org/drawingml/2006/main"/>
          <a:p xmlns:a="http://schemas.openxmlformats.org/drawingml/2006/main">
            <a:pPr algn="l">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public AI tools</a:t>
            </a:r>
          </a:p>
          <a:p xmlns:a="http://schemas.openxmlformats.org/drawingml/2006/main">
            <a:pPr algn="l">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100,000 outputs each</a:t>
            </a:r>
          </a:p>
        </p:txBody>
      </p:sp>
      <p:sp>
        <p:nvSpPr>
          <p:cNvPr id="11" name="">
            <a:extLst xmlns:a="http://schemas.openxmlformats.org/drawingml/2006/main">
              <a:ext uri="{FF2B5EF4-FFF2-40B4-BE49-F238E27FC236}">
                <a16:creationId xmlns:a16="http://schemas.microsoft.com/office/drawing/2014/main" id="{0A996BE4-548F-46C1-80A1-22F8A9F3348B}"/>
              </a:ext>
            </a:extLst>
          </p:cNvPr>
          <p:cNvSpPr>
            <a:spLocks xmlns:a="http://schemas.openxmlformats.org/drawingml/2006/main" noGrp="1"/>
          </p:cNvSpPr>
          <p:nvPr/>
        </p:nvSpPr>
        <p:spPr>
          <a:xfrm xmlns:a="http://schemas.openxmlformats.org/drawingml/2006/main">
            <a:off x="8229600" y="2647950"/>
            <a:ext cx="3571875" cy="2857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A62B969-65BB-4AEF-A494-740686EF7F08}"/>
              </a:ext>
            </a:extLst>
          </p:cNvPr>
          <p:cNvSpPr>
            <a:spLocks xmlns:a="http://schemas.openxmlformats.org/drawingml/2006/main" noGrp="1"/>
          </p:cNvSpPr>
          <p:nvPr/>
        </p:nvSpPr>
        <p:spPr>
          <a:xfrm xmlns:a="http://schemas.openxmlformats.org/drawingml/2006/main">
            <a:off x="8515350" y="3276600"/>
            <a:ext cx="3000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4350" b="1" i="0">
                <a:solidFill>
                  <a:srgbClr val="185D9D"/>
                </a:solidFill>
                <a:latin typeface="Helvetica Neue"/>
                <a:ea typeface="Helvetica Neue"/>
                <a:cs typeface="Helvetica Neue"/>
              </a:defRPr>
            </a:pPr>
            <a:r>
              <a:rPr sz="4350" b="1" i="0">
                <a:solidFill>
                  <a:srgbClr val="185D9D"/>
                </a:solidFill>
                <a:latin typeface="Helvetica Neue"/>
                <a:ea typeface="Helvetica Neue"/>
                <a:cs typeface="Helvetica Neue"/>
              </a:rPr>
              <a:t>&gt;14%</a:t>
            </a:r>
          </a:p>
        </p:txBody>
      </p:sp>
      <p:sp>
        <p:nvSpPr>
          <p:cNvPr id="13" name="">
            <a:extLst xmlns:a="http://schemas.openxmlformats.org/drawingml/2006/main">
              <a:ext uri="{FF2B5EF4-FFF2-40B4-BE49-F238E27FC236}">
                <a16:creationId xmlns:a16="http://schemas.microsoft.com/office/drawing/2014/main" id="{A67F197D-DB9C-4A00-8FB0-32B4CC2ACCA1}"/>
              </a:ext>
            </a:extLst>
          </p:cNvPr>
          <p:cNvSpPr>
            <a:spLocks xmlns:a="http://schemas.openxmlformats.org/drawingml/2006/main" noGrp="1"/>
          </p:cNvSpPr>
          <p:nvPr/>
        </p:nvSpPr>
        <p:spPr>
          <a:xfrm xmlns:a="http://schemas.openxmlformats.org/drawingml/2006/main">
            <a:off x="8515350" y="4286250"/>
            <a:ext cx="3000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had conformant C2PA packets with readable AI provenance</a:t>
            </a:r>
          </a:p>
        </p:txBody>
      </p:sp>
      <p:sp>
        <p:nvSpPr>
          <p:cNvPr id="16" name="ISOPE required footer">
            <a:extLst xmlns:a="http://schemas.openxmlformats.org/drawingml/2006/main">
              <a:ext uri="{FF2B5EF4-FFF2-40B4-BE49-F238E27FC236}">
                <a16:creationId xmlns:a16="http://schemas.microsoft.com/office/drawing/2014/main" id="{16FA2DA6-EF59-4067-B307-0C9C8EE344FC}"/>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21082732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2-title">
            <a:extLst xmlns:a="http://schemas.openxmlformats.org/drawingml/2006/main">
              <a:ext uri="{FF2B5EF4-FFF2-40B4-BE49-F238E27FC236}">
                <a16:creationId xmlns:a16="http://schemas.microsoft.com/office/drawing/2014/main" id="{F40D6698-7BE0-4A16-88B4-2AC97D1F2D75}"/>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Provenance can aid verification but expose a source</a:t>
            </a:r>
          </a:p>
        </p:txBody>
      </p:sp>
      <p:sp>
        <p:nvSpPr>
          <p:cNvPr id="2" name="">
            <a:extLst xmlns:a="http://schemas.openxmlformats.org/drawingml/2006/main">
              <a:ext uri="{FF2B5EF4-FFF2-40B4-BE49-F238E27FC236}">
                <a16:creationId xmlns:a16="http://schemas.microsoft.com/office/drawing/2014/main" id="{59AF080C-CE66-484B-BB55-A6032410F995}"/>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2-number">
            <a:extLst xmlns:a="http://schemas.openxmlformats.org/drawingml/2006/main">
              <a:ext uri="{FF2B5EF4-FFF2-40B4-BE49-F238E27FC236}">
                <a16:creationId xmlns:a16="http://schemas.microsoft.com/office/drawing/2014/main" id="{190DA84B-BADB-4733-875A-1E749CE28AB1}"/>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667E8193-BECB-4741-807E-5EBA3B12FD5E}"/>
              </a:ext>
            </a:extLst>
          </p:cNvPr>
          <p:cNvSpPr>
            <a:spLocks xmlns:a="http://schemas.openxmlformats.org/drawingml/2006/main" noGrp="1"/>
          </p:cNvSpPr>
          <p:nvPr/>
        </p:nvSpPr>
        <p:spPr>
          <a:xfrm xmlns:a="http://schemas.openxmlformats.org/drawingml/2006/main">
            <a:off x="390525" y="1619250"/>
            <a:ext cx="5286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398"/>
          </a:bodyPr>
          <a:lstStyle xmlns:a="http://schemas.openxmlformats.org/drawingml/2006/main"/>
          <a:p xmlns:a="http://schemas.openxmlformats.org/drawingml/2006/main">
            <a:pPr algn="l">
              <a:buNone/>
              <a:defRPr sz="2325" b="1" i="0">
                <a:solidFill>
                  <a:srgbClr val="185D9D"/>
                </a:solidFill>
                <a:latin typeface="Helvetica Neue"/>
                <a:ea typeface="Helvetica Neue"/>
                <a:cs typeface="Helvetica Neue"/>
              </a:defRPr>
            </a:pPr>
            <a:r>
              <a:rPr sz="2325" b="1" i="0">
                <a:solidFill>
                  <a:srgbClr val="185D9D"/>
                </a:solidFill>
                <a:latin typeface="Helvetica Neue"/>
                <a:ea typeface="Helvetica Neue"/>
                <a:cs typeface="Helvetica Neue"/>
              </a:rPr>
              <a:t>A whistleblower’s photograph reaches a newsroom.</a:t>
            </a:r>
          </a:p>
        </p:txBody>
      </p:sp>
      <p:sp>
        <p:nvSpPr>
          <p:cNvPr id="5" name="">
            <a:extLst xmlns:a="http://schemas.openxmlformats.org/drawingml/2006/main">
              <a:ext uri="{FF2B5EF4-FFF2-40B4-BE49-F238E27FC236}">
                <a16:creationId xmlns:a16="http://schemas.microsoft.com/office/drawing/2014/main" id="{59E3CFC5-49D2-4C15-8AF5-E3D6C8F59328}"/>
              </a:ext>
            </a:extLst>
          </p:cNvPr>
          <p:cNvSpPr>
            <a:spLocks xmlns:a="http://schemas.openxmlformats.org/drawingml/2006/main" noGrp="1"/>
          </p:cNvSpPr>
          <p:nvPr/>
        </p:nvSpPr>
        <p:spPr>
          <a:xfrm xmlns:a="http://schemas.openxmlformats.org/drawingml/2006/main">
            <a:off x="390525" y="26955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077E0C-D09D-4787-91A3-D57AF69C5F0A}"/>
              </a:ext>
            </a:extLst>
          </p:cNvPr>
          <p:cNvSpPr>
            <a:spLocks xmlns:a="http://schemas.openxmlformats.org/drawingml/2006/main" noGrp="1"/>
          </p:cNvSpPr>
          <p:nvPr/>
        </p:nvSpPr>
        <p:spPr>
          <a:xfrm xmlns:a="http://schemas.openxmlformats.org/drawingml/2006/main">
            <a:off x="657225" y="2619375"/>
            <a:ext cx="5019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r>
              <a:rPr b="1"/>
              <a:t>Publish the full manifest</a:t>
            </a:r>
            <a:r>
              <a:t>: sensitive fields may help identify the source.</a:t>
            </a:r>
          </a:p>
        </p:txBody>
      </p:sp>
      <p:sp>
        <p:nvSpPr>
          <p:cNvPr id="7" name="">
            <a:extLst xmlns:a="http://schemas.openxmlformats.org/drawingml/2006/main">
              <a:ext uri="{FF2B5EF4-FFF2-40B4-BE49-F238E27FC236}">
                <a16:creationId xmlns:a16="http://schemas.microsoft.com/office/drawing/2014/main" id="{8D5C86A8-1BCF-4119-B4D3-4878007D736C}"/>
              </a:ext>
            </a:extLst>
          </p:cNvPr>
          <p:cNvSpPr>
            <a:spLocks xmlns:a="http://schemas.openxmlformats.org/drawingml/2006/main" noGrp="1"/>
          </p:cNvSpPr>
          <p:nvPr/>
        </p:nvSpPr>
        <p:spPr>
          <a:xfrm xmlns:a="http://schemas.openxmlformats.org/drawingml/2006/main">
            <a:off x="390525" y="36480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881547-DD5F-4BC8-8080-A221EB85A481}"/>
              </a:ext>
            </a:extLst>
          </p:cNvPr>
          <p:cNvSpPr>
            <a:spLocks xmlns:a="http://schemas.openxmlformats.org/drawingml/2006/main" noGrp="1"/>
          </p:cNvSpPr>
          <p:nvPr/>
        </p:nvSpPr>
        <p:spPr>
          <a:xfrm xmlns:a="http://schemas.openxmlformats.org/drawingml/2006/main">
            <a:off x="657225" y="3571875"/>
            <a:ext cx="5019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r>
              <a:rPr b="1"/>
              <a:t>Remove it</a:t>
            </a:r>
            <a:r>
              <a:t>: missing provenance may look suspicious.</a:t>
            </a:r>
          </a:p>
        </p:txBody>
      </p:sp>
      <p:sp>
        <p:nvSpPr>
          <p:cNvPr id="9" name="">
            <a:extLst xmlns:a="http://schemas.openxmlformats.org/drawingml/2006/main">
              <a:ext uri="{FF2B5EF4-FFF2-40B4-BE49-F238E27FC236}">
                <a16:creationId xmlns:a16="http://schemas.microsoft.com/office/drawing/2014/main" id="{0B32702B-1736-4B0E-9ACB-47D1A99A2791}"/>
              </a:ext>
            </a:extLst>
          </p:cNvPr>
          <p:cNvSpPr>
            <a:spLocks xmlns:a="http://schemas.openxmlformats.org/drawingml/2006/main" noGrp="1"/>
          </p:cNvSpPr>
          <p:nvPr/>
        </p:nvSpPr>
        <p:spPr>
          <a:xfrm xmlns:a="http://schemas.openxmlformats.org/drawingml/2006/main">
            <a:off x="390525" y="46005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5BEE54-91DD-490E-9E82-81635EDA7CF3}"/>
              </a:ext>
            </a:extLst>
          </p:cNvPr>
          <p:cNvSpPr>
            <a:spLocks xmlns:a="http://schemas.openxmlformats.org/drawingml/2006/main" noGrp="1"/>
          </p:cNvSpPr>
          <p:nvPr/>
        </p:nvSpPr>
        <p:spPr>
          <a:xfrm xmlns:a="http://schemas.openxmlformats.org/drawingml/2006/main">
            <a:off x="657225" y="4524375"/>
            <a:ext cx="5019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r>
              <a:rPr b="1"/>
              <a:t>Edit it</a:t>
            </a:r>
            <a:r>
              <a:t>: routine processing may look like manipulation.</a:t>
            </a:r>
          </a:p>
        </p:txBody>
      </p:sp>
      <p:sp>
        <p:nvSpPr>
          <p:cNvPr id="11" name="">
            <a:extLst xmlns:a="http://schemas.openxmlformats.org/drawingml/2006/main">
              <a:ext uri="{FF2B5EF4-FFF2-40B4-BE49-F238E27FC236}">
                <a16:creationId xmlns:a16="http://schemas.microsoft.com/office/drawing/2014/main" id="{A00EF178-F241-453B-A15C-4D8A313474A3}"/>
              </a:ext>
            </a:extLst>
          </p:cNvPr>
          <p:cNvSpPr>
            <a:spLocks xmlns:a="http://schemas.openxmlformats.org/drawingml/2006/main" noGrp="1"/>
          </p:cNvSpPr>
          <p:nvPr/>
        </p:nvSpPr>
        <p:spPr>
          <a:xfrm xmlns:a="http://schemas.openxmlformats.org/drawingml/2006/main">
            <a:off x="6267450" y="1466850"/>
            <a:ext cx="5534025" cy="4476750"/>
          </a:xfrm>
          <a:prstGeom xmlns:a="http://schemas.openxmlformats.org/drawingml/2006/main" prst="rect">
            <a:avLst/>
          </a:prstGeom>
          <a:solidFill xmlns:a="http://schemas.openxmlformats.org/drawingml/2006/main">
            <a:srgbClr val="EAF5FB"/>
          </a:solidFill>
          <a:ln xmlns:a="http://schemas.openxmlformats.org/drawingml/2006/main" w="9525">
            <a:solidFill>
              <a:srgbClr val="BBC3CC"/>
            </a:solidFill>
            <a:prstDash val="solid"/>
          </a:ln>
        </p:spPr>
      </p:sp>
      <p:sp>
        <p:nvSpPr>
          <p:cNvPr id="27" name="ISOPE required footer">
            <a:extLst xmlns:a="http://schemas.openxmlformats.org/drawingml/2006/main">
              <a:ext uri="{FF2B5EF4-FFF2-40B4-BE49-F238E27FC236}">
                <a16:creationId xmlns:a16="http://schemas.microsoft.com/office/drawing/2014/main" id="{56ED2E03-E92A-44D3-8CE4-75D7EC4B5831}"/>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
        <p:nvSpPr>
          <p:cNvPr id="28" name="">
            <a:extLst xmlns:a="http://schemas.openxmlformats.org/drawingml/2006/main">
              <a:ext uri="{FF2B5EF4-FFF2-40B4-BE49-F238E27FC236}">
                <a16:creationId xmlns:a16="http://schemas.microsoft.com/office/drawing/2014/main" id="{8AEC7028-5881-48FB-9F43-BBA2E141DAF1}"/>
              </a:ext>
            </a:extLst>
          </p:cNvPr>
          <p:cNvSpPr>
            <a:spLocks xmlns:a="http://schemas.openxmlformats.org/drawingml/2006/main" noGrp="1"/>
          </p:cNvSpPr>
          <p:nvPr/>
        </p:nvSpPr>
        <p:spPr>
          <a:xfrm xmlns:a="http://schemas.openxmlformats.org/drawingml/2006/main">
            <a:off x="6572250" y="16764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a:defRPr sz="1200" b="1">
                <a:solidFill>
                  <a:srgbClr val="185D9D"/>
                </a:solidFill>
                <a:latin typeface="Helvetica Neue"/>
                <a:ea typeface="Helvetica Neue"/>
                <a:cs typeface="Helvetica Neue"/>
              </a:defRPr>
            </a:pPr>
            <a:r>
              <a:rPr sz="1200" b="1">
                <a:solidFill>
                  <a:srgbClr val="185D9D"/>
                </a:solidFill>
                <a:latin typeface="Helvetica Neue"/>
                <a:ea typeface="Helvetica Neue"/>
                <a:cs typeface="Helvetica Neue"/>
              </a:rPr>
              <a:t>ILLUSTRATIVE C2PA READER OUTPUT</a:t>
            </a:r>
          </a:p>
        </p:txBody>
      </p:sp>
      <p:sp>
        <p:nvSpPr>
          <p:cNvPr id="29" name="">
            <a:extLst xmlns:a="http://schemas.openxmlformats.org/drawingml/2006/main">
              <a:ext uri="{FF2B5EF4-FFF2-40B4-BE49-F238E27FC236}">
                <a16:creationId xmlns:a16="http://schemas.microsoft.com/office/drawing/2014/main" id="{6A1A51AB-AB5C-4FEE-9795-6A8EC68A7BCE}"/>
              </a:ext>
            </a:extLst>
          </p:cNvPr>
          <p:cNvSpPr>
            <a:spLocks xmlns:a="http://schemas.openxmlformats.org/drawingml/2006/main" noGrp="1"/>
          </p:cNvSpPr>
          <p:nvPr/>
        </p:nvSpPr>
        <p:spPr>
          <a:xfrm xmlns:a="http://schemas.openxmlformats.org/drawingml/2006/main">
            <a:off x="6572250" y="1924050"/>
            <a:ext cx="485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rmAutofit fontScale="100000"/>
          </a:bodyPr>
          <a:lstStyle xmlns:a="http://schemas.openxmlformats.org/drawingml/2006/main"/>
          <a:p xmlns:a="http://schemas.openxmlformats.org/drawingml/2006/main">
            <a:pPr>
              <a:defRPr sz="1050">
                <a:solidFill>
                  <a:srgbClr val="555D69"/>
                </a:solidFill>
                <a:latin typeface="Helvetica Neue"/>
                <a:ea typeface="Helvetica Neue"/>
                <a:cs typeface="Helvetica Neue"/>
              </a:defRPr>
            </a:pPr>
            <a:r>
              <a:rPr b="1">
                <a:solidFill>
                  <a:srgbClr val="185D9D"/>
                </a:solidFill>
              </a:rPr>
              <a:t>Blue: verification evidence</a:t>
            </a:r>
            <a:r>
              <a:rPr b="1">
                <a:solidFill>
                  <a:srgbClr val="9B2C2C"/>
                </a:solidFill>
              </a:rPr>
              <a:t>    Red: possible source exposure</a:t>
            </a:r>
          </a:p>
        </p:txBody>
      </p:sp>
      <p:sp>
        <p:nvSpPr>
          <p:cNvPr id="30" name="">
            <a:extLst xmlns:a="http://schemas.openxmlformats.org/drawingml/2006/main">
              <a:ext uri="{FF2B5EF4-FFF2-40B4-BE49-F238E27FC236}">
                <a16:creationId xmlns:a16="http://schemas.microsoft.com/office/drawing/2014/main" id="{7F0132C0-47AC-4E31-B68D-9B06F236C397}"/>
              </a:ext>
            </a:extLst>
          </p:cNvPr>
          <p:cNvSpPr>
            <a:spLocks xmlns:a="http://schemas.openxmlformats.org/drawingml/2006/main" noGrp="1"/>
          </p:cNvSpPr>
          <p:nvPr/>
        </p:nvSpPr>
        <p:spPr>
          <a:xfrm xmlns:a="http://schemas.openxmlformats.org/drawingml/2006/main">
            <a:off x="6572250" y="2190750"/>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rmAutofit fontScale="92272"/>
          </a:bodyPr>
          <a:lstStyle xmlns:a="http://schemas.openxmlformats.org/drawingml/2006/main"/>
          <a:p xmlns:a="http://schemas.openxmlformats.org/drawingml/2006/main">
            <a:pPr>
              <a:defRPr sz="1275">
                <a:solidFill>
                  <a:srgbClr val="20252B"/>
                </a:solidFill>
                <a:latin typeface="Helvetica Neue"/>
                <a:ea typeface="Helvetica Neue"/>
                <a:cs typeface="Helvetica Neue"/>
              </a:defRPr>
            </a:pPr>
            <a:r>
              <a:rPr>
                <a:solidFill>
                  <a:srgbClr val="20252B"/>
                </a:solidFill>
              </a:rPr>
              <a:t>{</a:t>
            </a:r>
          </a:p>
          <a:p xmlns:a="http://schemas.openxmlformats.org/drawingml/2006/main">
            <a:pPr>
              <a:defRPr sz="1275">
                <a:solidFill>
                  <a:srgbClr val="20252B"/>
                </a:solidFill>
                <a:latin typeface="Helvetica Neue"/>
                <a:ea typeface="Helvetica Neue"/>
                <a:cs typeface="Helvetica Neue"/>
              </a:defRPr>
            </a:pPr>
            <a:r>
              <a:rPr>
                <a:solidFill>
                  <a:srgbClr val="185D9D"/>
                </a:solidFill>
              </a:rPr>
              <a:t>  "c2pa.actions": [</a:t>
            </a:r>
          </a:p>
          <a:p xmlns:a="http://schemas.openxmlformats.org/drawingml/2006/main">
            <a:pPr>
              <a:defRPr sz="1275">
                <a:solidFill>
                  <a:srgbClr val="20252B"/>
                </a:solidFill>
                <a:latin typeface="Helvetica Neue"/>
                <a:ea typeface="Helvetica Neue"/>
                <a:cs typeface="Helvetica Neue"/>
              </a:defRPr>
            </a:pPr>
            <a:r>
              <a:rPr>
                <a:solidFill>
                  <a:srgbClr val="185D9D"/>
                </a:solidFill>
              </a:rPr>
              <a:t>    {"action":"c2pa.created",</a:t>
            </a:r>
          </a:p>
          <a:p xmlns:a="http://schemas.openxmlformats.org/drawingml/2006/main">
            <a:pPr>
              <a:defRPr sz="1275">
                <a:solidFill>
                  <a:srgbClr val="20252B"/>
                </a:solidFill>
                <a:latin typeface="Helvetica Neue"/>
                <a:ea typeface="Helvetica Neue"/>
                <a:cs typeface="Helvetica Neue"/>
              </a:defRPr>
            </a:pPr>
            <a:r>
              <a:rPr>
                <a:solidFill>
                  <a:srgbClr val="185D9D"/>
                </a:solidFill>
              </a:rPr>
              <a:t>     "digitalSourceType":"digitalCapture"},</a:t>
            </a:r>
          </a:p>
          <a:p xmlns:a="http://schemas.openxmlformats.org/drawingml/2006/main">
            <a:pPr>
              <a:defRPr sz="1275">
                <a:solidFill>
                  <a:srgbClr val="20252B"/>
                </a:solidFill>
                <a:latin typeface="Helvetica Neue"/>
                <a:ea typeface="Helvetica Neue"/>
                <a:cs typeface="Helvetica Neue"/>
              </a:defRPr>
            </a:pPr>
            <a:r>
              <a:rPr>
                <a:solidFill>
                  <a:srgbClr val="185D9D"/>
                </a:solidFill>
              </a:rPr>
              <a:t>    {"action":"c2pa.color_adjustments",</a:t>
            </a:r>
          </a:p>
          <a:p xmlns:a="http://schemas.openxmlformats.org/drawingml/2006/main">
            <a:pPr>
              <a:defRPr sz="1275">
                <a:solidFill>
                  <a:srgbClr val="20252B"/>
                </a:solidFill>
                <a:latin typeface="Helvetica Neue"/>
                <a:ea typeface="Helvetica Neue"/>
                <a:cs typeface="Helvetica Neue"/>
              </a:defRPr>
            </a:pPr>
            <a:r>
              <a:rPr>
                <a:solidFill>
                  <a:srgbClr val="185D9D"/>
                </a:solidFill>
              </a:rPr>
              <a:t>     "softwareAgent":"Camera AI"}</a:t>
            </a:r>
          </a:p>
          <a:p xmlns:a="http://schemas.openxmlformats.org/drawingml/2006/main">
            <a:pPr>
              <a:defRPr sz="1275">
                <a:solidFill>
                  <a:srgbClr val="20252B"/>
                </a:solidFill>
                <a:latin typeface="Helvetica Neue"/>
                <a:ea typeface="Helvetica Neue"/>
                <a:cs typeface="Helvetica Neue"/>
              </a:defRPr>
            </a:pPr>
            <a:r>
              <a:rPr>
                <a:solidFill>
                  <a:srgbClr val="20252B"/>
                </a:solidFill>
              </a:rPr>
              <a:t>  ],</a:t>
            </a:r>
          </a:p>
          <a:p xmlns:a="http://schemas.openxmlformats.org/drawingml/2006/main">
            <a:pPr>
              <a:defRPr sz="1275">
                <a:solidFill>
                  <a:srgbClr val="20252B"/>
                </a:solidFill>
                <a:latin typeface="Helvetica Neue"/>
                <a:ea typeface="Helvetica Neue"/>
                <a:cs typeface="Helvetica Neue"/>
              </a:defRPr>
            </a:pPr>
            <a:r>
              <a:rPr>
                <a:solidFill>
                  <a:srgbClr val="9B2C2C"/>
                </a:solidFill>
              </a:rPr>
              <a:t>  "c2pa.metadata": {</a:t>
            </a:r>
          </a:p>
          <a:p xmlns:a="http://schemas.openxmlformats.org/drawingml/2006/main">
            <a:pPr>
              <a:defRPr sz="1275">
                <a:solidFill>
                  <a:srgbClr val="20252B"/>
                </a:solidFill>
                <a:latin typeface="Helvetica Neue"/>
                <a:ea typeface="Helvetica Neue"/>
                <a:cs typeface="Helvetica Neue"/>
              </a:defRPr>
            </a:pPr>
            <a:r>
              <a:rPr>
                <a:solidFill>
                  <a:srgbClr val="9B2C2C"/>
                </a:solidFill>
              </a:rPr>
              <a:t>    "dc:creator":["A. Source"],</a:t>
            </a:r>
          </a:p>
          <a:p xmlns:a="http://schemas.openxmlformats.org/drawingml/2006/main">
            <a:pPr>
              <a:defRPr sz="1275">
                <a:solidFill>
                  <a:srgbClr val="20252B"/>
                </a:solidFill>
                <a:latin typeface="Helvetica Neue"/>
                <a:ea typeface="Helvetica Neue"/>
                <a:cs typeface="Helvetica Neue"/>
              </a:defRPr>
            </a:pPr>
            <a:r>
              <a:rPr>
                <a:solidFill>
                  <a:srgbClr val="9B2C2C"/>
                </a:solidFill>
              </a:rPr>
              <a:t>    "exif:DateTimeOriginal":</a:t>
            </a:r>
          </a:p>
          <a:p xmlns:a="http://schemas.openxmlformats.org/drawingml/2006/main">
            <a:pPr>
              <a:defRPr sz="1275">
                <a:solidFill>
                  <a:srgbClr val="20252B"/>
                </a:solidFill>
                <a:latin typeface="Helvetica Neue"/>
                <a:ea typeface="Helvetica Neue"/>
                <a:cs typeface="Helvetica Neue"/>
              </a:defRPr>
            </a:pPr>
            <a:r>
              <a:rPr>
                <a:solidFill>
                  <a:srgbClr val="9B2C2C"/>
                </a:solidFill>
              </a:rPr>
              <a:t>      "2026:09:16 09:42:31",</a:t>
            </a:r>
          </a:p>
          <a:p xmlns:a="http://schemas.openxmlformats.org/drawingml/2006/main">
            <a:pPr>
              <a:defRPr sz="1275">
                <a:solidFill>
                  <a:srgbClr val="20252B"/>
                </a:solidFill>
                <a:latin typeface="Helvetica Neue"/>
                <a:ea typeface="Helvetica Neue"/>
                <a:cs typeface="Helvetica Neue"/>
              </a:defRPr>
            </a:pPr>
            <a:r>
              <a:rPr>
                <a:solidFill>
                  <a:srgbClr val="9B2C2C"/>
                </a:solidFill>
              </a:rPr>
              <a:t>    "exif:GPSLatitude":"40,42.768N",</a:t>
            </a:r>
          </a:p>
          <a:p xmlns:a="http://schemas.openxmlformats.org/drawingml/2006/main">
            <a:pPr>
              <a:defRPr sz="1275">
                <a:solidFill>
                  <a:srgbClr val="20252B"/>
                </a:solidFill>
                <a:latin typeface="Helvetica Neue"/>
                <a:ea typeface="Helvetica Neue"/>
                <a:cs typeface="Helvetica Neue"/>
              </a:defRPr>
            </a:pPr>
            <a:r>
              <a:rPr>
                <a:solidFill>
                  <a:srgbClr val="9B2C2C"/>
                </a:solidFill>
              </a:rPr>
              <a:t>    "exif:GPSLongitude":"74,0.360W",</a:t>
            </a:r>
          </a:p>
          <a:p xmlns:a="http://schemas.openxmlformats.org/drawingml/2006/main">
            <a:pPr>
              <a:defRPr sz="1275">
                <a:solidFill>
                  <a:srgbClr val="20252B"/>
                </a:solidFill>
                <a:latin typeface="Helvetica Neue"/>
                <a:ea typeface="Helvetica Neue"/>
                <a:cs typeface="Helvetica Neue"/>
              </a:defRPr>
            </a:pPr>
            <a:r>
              <a:rPr>
                <a:solidFill>
                  <a:srgbClr val="9B2C2C"/>
                </a:solidFill>
              </a:rPr>
              <a:t>    "exifEX:BodySerialNumber":</a:t>
            </a:r>
          </a:p>
          <a:p xmlns:a="http://schemas.openxmlformats.org/drawingml/2006/main">
            <a:pPr>
              <a:defRPr sz="1275">
                <a:solidFill>
                  <a:srgbClr val="20252B"/>
                </a:solidFill>
                <a:latin typeface="Helvetica Neue"/>
                <a:ea typeface="Helvetica Neue"/>
                <a:cs typeface="Helvetica Neue"/>
              </a:defRPr>
            </a:pPr>
            <a:r>
              <a:rPr>
                <a:solidFill>
                  <a:srgbClr val="9B2C2C"/>
                </a:solidFill>
              </a:rPr>
              <a:t>      "A1B2-C3D4"</a:t>
            </a:r>
          </a:p>
          <a:p xmlns:a="http://schemas.openxmlformats.org/drawingml/2006/main">
            <a:pPr>
              <a:defRPr sz="1275">
                <a:solidFill>
                  <a:srgbClr val="20252B"/>
                </a:solidFill>
                <a:latin typeface="Helvetica Neue"/>
                <a:ea typeface="Helvetica Neue"/>
                <a:cs typeface="Helvetica Neue"/>
              </a:defRPr>
            </a:pPr>
            <a:r>
              <a:rPr>
                <a:solidFill>
                  <a:srgbClr val="20252B"/>
                </a:solidFill>
              </a:rPr>
              <a:t>  }</a:t>
            </a:r>
          </a:p>
          <a:p xmlns:a="http://schemas.openxmlformats.org/drawingml/2006/main">
            <a:pPr>
              <a:defRPr sz="1275">
                <a:solidFill>
                  <a:srgbClr val="20252B"/>
                </a:solidFill>
                <a:latin typeface="Helvetica Neue"/>
                <a:ea typeface="Helvetica Neue"/>
                <a:cs typeface="Helvetica Neue"/>
              </a:defRPr>
            </a:pPr>
            <a:r>
              <a:rPr>
                <a:solidFill>
                  <a:srgbClr val="20252B"/>
                </a:solidFill>
              </a:rPr>
              <a:t>}</a:t>
            </a:r>
          </a:p>
        </p:txBody>
      </p:sp>
      <p:sp>
        <p:nvSpPr>
          <p:cNvPr id="31" name="">
            <a:extLst xmlns:a="http://schemas.openxmlformats.org/drawingml/2006/main">
              <a:ext uri="{FF2B5EF4-FFF2-40B4-BE49-F238E27FC236}">
                <a16:creationId xmlns:a16="http://schemas.microsoft.com/office/drawing/2014/main" id="{0CE6D1BD-769E-4F80-A923-5726F0401D5A}"/>
              </a:ext>
            </a:extLst>
          </p:cNvPr>
          <p:cNvSpPr>
            <a:spLocks xmlns:a="http://schemas.openxmlformats.org/drawingml/2006/main" noGrp="1"/>
          </p:cNvSpPr>
          <p:nvPr/>
        </p:nvSpPr>
        <p:spPr>
          <a:xfrm xmlns:a="http://schemas.openxmlformats.org/drawingml/2006/main">
            <a:off x="6572250" y="54292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algn="ctr">
              <a:defRPr sz="1275">
                <a:solidFill>
                  <a:srgbClr val="555D69"/>
                </a:solidFill>
                <a:latin typeface="Helvetica Neue"/>
                <a:ea typeface="Helvetica Neue"/>
                <a:cs typeface="Helvetica Neue"/>
              </a:defRPr>
            </a:pPr>
            <a:r>
              <a:rPr sz="1275">
                <a:solidFill>
                  <a:srgbClr val="555D69"/>
                </a:solidFill>
                <a:latin typeface="Helvetica Neue"/>
                <a:ea typeface="Helvetica Neue"/>
                <a:cs typeface="Helvetica Neue"/>
              </a:rPr>
              <a:t>Private verification can become public exposure.</a:t>
            </a:r>
          </a:p>
        </p:txBody>
      </p:sp>
    </p:spTree>
    <p:extLst>
      <p:ext uri="{BB962C8B-B14F-4D97-AF65-F5344CB8AC3E}">
        <p14:creationId xmlns:p14="http://schemas.microsoft.com/office/powerpoint/2010/main" val="6622367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6-title">
            <a:extLst xmlns:a="http://schemas.openxmlformats.org/drawingml/2006/main">
              <a:ext uri="{FF2B5EF4-FFF2-40B4-BE49-F238E27FC236}">
                <a16:creationId xmlns:a16="http://schemas.microsoft.com/office/drawing/2014/main" id="{A8A849DF-C9F3-4BF4-94C7-798E736A2EAC}"/>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Validation, disclosure, and propagation</a:t>
            </a:r>
          </a:p>
        </p:txBody>
      </p:sp>
      <p:sp>
        <p:nvSpPr>
          <p:cNvPr id="2" name="">
            <a:extLst xmlns:a="http://schemas.openxmlformats.org/drawingml/2006/main">
              <a:ext uri="{FF2B5EF4-FFF2-40B4-BE49-F238E27FC236}">
                <a16:creationId xmlns:a16="http://schemas.microsoft.com/office/drawing/2014/main" id="{B67C7675-A0B9-4769-9ADF-ED0C0573B4A7}"/>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6-number">
            <a:extLst xmlns:a="http://schemas.openxmlformats.org/drawingml/2006/main">
              <a:ext uri="{FF2B5EF4-FFF2-40B4-BE49-F238E27FC236}">
                <a16:creationId xmlns:a16="http://schemas.microsoft.com/office/drawing/2014/main" id="{827DD19E-B01E-4E68-B580-E2F3784D6C43}"/>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A8FEC94E-FD43-4D4F-A528-30561B5EC345}"/>
              </a:ext>
            </a:extLst>
          </p:cNvPr>
          <p:cNvSpPr>
            <a:spLocks xmlns:a="http://schemas.openxmlformats.org/drawingml/2006/main" noGrp="1"/>
          </p:cNvSpPr>
          <p:nvPr/>
        </p:nvSpPr>
        <p:spPr>
          <a:xfrm xmlns:a="http://schemas.openxmlformats.org/drawingml/2006/main">
            <a:off x="390525" y="1571625"/>
            <a:ext cx="5238750" cy="34290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CA2319-1B5E-4FA6-916E-9C9A33B47667}"/>
              </a:ext>
            </a:extLst>
          </p:cNvPr>
          <p:cNvSpPr>
            <a:spLocks xmlns:a="http://schemas.openxmlformats.org/drawingml/2006/main" noGrp="1"/>
          </p:cNvSpPr>
          <p:nvPr/>
        </p:nvSpPr>
        <p:spPr>
          <a:xfrm xmlns:a="http://schemas.openxmlformats.org/drawingml/2006/main">
            <a:off x="6248400" y="1571625"/>
            <a:ext cx="5238750" cy="34290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426E260-B50A-41C0-8ACE-8070D2751CF8}"/>
              </a:ext>
            </a:extLst>
          </p:cNvPr>
          <p:cNvSpPr>
            <a:spLocks xmlns:a="http://schemas.openxmlformats.org/drawingml/2006/main" noGrp="1"/>
          </p:cNvSpPr>
          <p:nvPr/>
        </p:nvSpPr>
        <p:spPr>
          <a:xfrm xmlns:a="http://schemas.openxmlformats.org/drawingml/2006/main">
            <a:off x="714375" y="19050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85D9D"/>
                </a:solidFill>
                <a:latin typeface="Helvetica Neue"/>
                <a:ea typeface="Helvetica Neue"/>
                <a:cs typeface="Helvetica Neue"/>
              </a:defRPr>
            </a:pPr>
            <a:r>
              <a:rPr sz="1425" b="1" i="0">
                <a:solidFill>
                  <a:srgbClr val="185D9D"/>
                </a:solidFill>
                <a:latin typeface="Helvetica Neue"/>
                <a:ea typeface="Helvetica Neue"/>
                <a:cs typeface="Helvetica Neue"/>
              </a:rPr>
              <a:t>VALIDATION</a:t>
            </a:r>
          </a:p>
        </p:txBody>
      </p:sp>
      <p:sp>
        <p:nvSpPr>
          <p:cNvPr id="7" name="">
            <a:extLst xmlns:a="http://schemas.openxmlformats.org/drawingml/2006/main">
              <a:ext uri="{FF2B5EF4-FFF2-40B4-BE49-F238E27FC236}">
                <a16:creationId xmlns:a16="http://schemas.microsoft.com/office/drawing/2014/main" id="{7550DB13-640B-469F-BBF1-071FC6B7AAF8}"/>
              </a:ext>
            </a:extLst>
          </p:cNvPr>
          <p:cNvSpPr>
            <a:spLocks xmlns:a="http://schemas.openxmlformats.org/drawingml/2006/main" noGrp="1"/>
          </p:cNvSpPr>
          <p:nvPr/>
        </p:nvSpPr>
        <p:spPr>
          <a:xfrm xmlns:a="http://schemas.openxmlformats.org/drawingml/2006/main">
            <a:off x="714375" y="2495550"/>
            <a:ext cx="4476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28600" indent="-114300">
              <a:spcAft>
                <a:spcPts val="500"/>
              </a:spcAft>
              <a:buChar char="•"/>
              <a:defRPr sz="2025">
                <a:solidFill>
                  <a:srgbClr val="111318"/>
                </a:solidFill>
                <a:latin typeface="Helvetica Neue"/>
                <a:ea typeface="Helvetica Neue"/>
                <a:cs typeface="Helvetica Neue"/>
              </a:defRPr>
            </a:pPr>
            <a:r>
              <a:rPr sz="2025">
                <a:solidFill>
                  <a:srgbClr val="111318"/>
                </a:solidFill>
                <a:latin typeface="Helvetica Neue"/>
                <a:ea typeface="Helvetica Neue"/>
                <a:cs typeface="Helvetica Neue"/>
              </a:rPr>
              <a:t>Is the manifest well-formed?</a:t>
            </a:r>
          </a:p>
          <a:p xmlns:a="http://schemas.openxmlformats.org/drawingml/2006/main">
            <a:pPr marL="228600" indent="-114300">
              <a:spcAft>
                <a:spcPts val="500"/>
              </a:spcAft>
              <a:buChar char="•"/>
              <a:defRPr sz="2025">
                <a:solidFill>
                  <a:srgbClr val="111318"/>
                </a:solidFill>
                <a:latin typeface="Helvetica Neue"/>
                <a:ea typeface="Helvetica Neue"/>
                <a:cs typeface="Helvetica Neue"/>
              </a:defRPr>
            </a:pPr>
            <a:r>
              <a:rPr sz="2025">
                <a:solidFill>
                  <a:srgbClr val="111318"/>
                </a:solidFill>
                <a:latin typeface="Helvetica Neue"/>
                <a:ea typeface="Helvetica Neue"/>
                <a:cs typeface="Helvetica Neue"/>
              </a:rPr>
              <a:t>Does the signature validate?</a:t>
            </a:r>
          </a:p>
          <a:p xmlns:a="http://schemas.openxmlformats.org/drawingml/2006/main">
            <a:pPr marL="228600" indent="-114300">
              <a:spcAft>
                <a:spcPts val="500"/>
              </a:spcAft>
              <a:buChar char="•"/>
              <a:defRPr sz="2025">
                <a:solidFill>
                  <a:srgbClr val="111318"/>
                </a:solidFill>
                <a:latin typeface="Helvetica Neue"/>
                <a:ea typeface="Helvetica Neue"/>
                <a:cs typeface="Helvetica Neue"/>
              </a:defRPr>
            </a:pPr>
            <a:r>
              <a:rPr sz="2025">
                <a:solidFill>
                  <a:srgbClr val="111318"/>
                </a:solidFill>
                <a:latin typeface="Helvetica Neue"/>
                <a:ea typeface="Helvetica Neue"/>
                <a:cs typeface="Helvetica Neue"/>
              </a:rPr>
              <a:t>Does the content binding match?</a:t>
            </a:r>
          </a:p>
          <a:p xmlns:a="http://schemas.openxmlformats.org/drawingml/2006/main">
            <a:pPr marL="228600" indent="-114300">
              <a:spcAft>
                <a:spcPts val="500"/>
              </a:spcAft>
              <a:buChar char="•"/>
              <a:defRPr sz="2025">
                <a:solidFill>
                  <a:srgbClr val="111318"/>
                </a:solidFill>
                <a:latin typeface="Helvetica Neue"/>
                <a:ea typeface="Helvetica Neue"/>
                <a:cs typeface="Helvetica Neue"/>
              </a:defRPr>
            </a:pPr>
            <a:r>
              <a:rPr sz="2025">
                <a:solidFill>
                  <a:srgbClr val="111318"/>
                </a:solidFill>
                <a:latin typeface="Helvetica Neue"/>
                <a:ea typeface="Helvetica Neue"/>
                <a:cs typeface="Helvetica Neue"/>
              </a:rPr>
              <a:t>Is the signer trusted here?</a:t>
            </a:r>
          </a:p>
        </p:txBody>
      </p:sp>
      <p:sp>
        <p:nvSpPr>
          <p:cNvPr id="8" name="">
            <a:extLst xmlns:a="http://schemas.openxmlformats.org/drawingml/2006/main">
              <a:ext uri="{FF2B5EF4-FFF2-40B4-BE49-F238E27FC236}">
                <a16:creationId xmlns:a16="http://schemas.microsoft.com/office/drawing/2014/main" id="{68201B9B-51BE-4898-9430-3B0413C78EDC}"/>
              </a:ext>
            </a:extLst>
          </p:cNvPr>
          <p:cNvSpPr>
            <a:spLocks xmlns:a="http://schemas.openxmlformats.org/drawingml/2006/main" noGrp="1"/>
          </p:cNvSpPr>
          <p:nvPr/>
        </p:nvSpPr>
        <p:spPr>
          <a:xfrm xmlns:a="http://schemas.openxmlformats.org/drawingml/2006/main">
            <a:off x="6572250" y="19050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318"/>
                </a:solidFill>
                <a:latin typeface="Helvetica Neue"/>
                <a:ea typeface="Helvetica Neue"/>
                <a:cs typeface="Helvetica Neue"/>
              </a:defRPr>
            </a:pPr>
            <a:r>
              <a:rPr sz="1425" b="1" i="0">
                <a:solidFill>
                  <a:srgbClr val="111318"/>
                </a:solidFill>
                <a:latin typeface="Helvetica Neue"/>
                <a:ea typeface="Helvetica Neue"/>
                <a:cs typeface="Helvetica Neue"/>
              </a:rPr>
              <a:t>DISCLOSURE + PROPAGATION</a:t>
            </a:r>
          </a:p>
        </p:txBody>
      </p:sp>
      <p:sp>
        <p:nvSpPr>
          <p:cNvPr id="9" name="">
            <a:extLst xmlns:a="http://schemas.openxmlformats.org/drawingml/2006/main">
              <a:ext uri="{FF2B5EF4-FFF2-40B4-BE49-F238E27FC236}">
                <a16:creationId xmlns:a16="http://schemas.microsoft.com/office/drawing/2014/main" id="{DBB70EBF-B83B-469B-832D-3F337E82695F}"/>
              </a:ext>
            </a:extLst>
          </p:cNvPr>
          <p:cNvSpPr>
            <a:spLocks xmlns:a="http://schemas.openxmlformats.org/drawingml/2006/main" noGrp="1"/>
          </p:cNvSpPr>
          <p:nvPr/>
        </p:nvSpPr>
        <p:spPr>
          <a:xfrm xmlns:a="http://schemas.openxmlformats.org/drawingml/2006/main">
            <a:off x="6477000" y="249555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28600" indent="-114300">
              <a:spcAft>
                <a:spcPts val="500"/>
              </a:spcAft>
              <a:buChar char="•"/>
              <a:defRPr sz="2025">
                <a:solidFill>
                  <a:srgbClr val="111318"/>
                </a:solidFill>
                <a:latin typeface="Helvetica Neue"/>
                <a:ea typeface="Helvetica Neue"/>
                <a:cs typeface="Helvetica Neue"/>
              </a:defRPr>
            </a:pPr>
            <a:r>
              <a:rPr sz="2025">
                <a:solidFill>
                  <a:srgbClr val="111318"/>
                </a:solidFill>
                <a:latin typeface="Helvetica Neue"/>
                <a:ea typeface="Helvetica Neue"/>
                <a:cs typeface="Helvetica Neue"/>
              </a:rPr>
              <a:t>Which claims does this verifier need?</a:t>
            </a:r>
          </a:p>
          <a:p xmlns:a="http://schemas.openxmlformats.org/drawingml/2006/main">
            <a:pPr marL="228600" indent="-114300">
              <a:spcAft>
                <a:spcPts val="500"/>
              </a:spcAft>
              <a:buChar char="•"/>
              <a:defRPr sz="2025">
                <a:solidFill>
                  <a:srgbClr val="111318"/>
                </a:solidFill>
                <a:latin typeface="Helvetica Neue"/>
                <a:ea typeface="Helvetica Neue"/>
                <a:cs typeface="Helvetica Neue"/>
              </a:defRPr>
            </a:pPr>
            <a:r>
              <a:rPr sz="2025">
                <a:solidFill>
                  <a:srgbClr val="111318"/>
                </a:solidFill>
                <a:latin typeface="Helvetica Neue"/>
                <a:ea typeface="Helvetica Neue"/>
                <a:cs typeface="Helvetica Neue"/>
              </a:rPr>
              <a:t>Who may receive them?</a:t>
            </a:r>
          </a:p>
          <a:p xmlns:a="http://schemas.openxmlformats.org/drawingml/2006/main">
            <a:pPr marL="228600" indent="-114300">
              <a:spcAft>
                <a:spcPts val="500"/>
              </a:spcAft>
              <a:buChar char="•"/>
              <a:defRPr sz="2025">
                <a:solidFill>
                  <a:srgbClr val="111318"/>
                </a:solidFill>
                <a:latin typeface="Helvetica Neue"/>
                <a:ea typeface="Helvetica Neue"/>
                <a:cs typeface="Helvetica Neue"/>
              </a:defRPr>
            </a:pPr>
            <a:r>
              <a:rPr sz="2025">
                <a:solidFill>
                  <a:srgbClr val="111318"/>
                </a:solidFill>
                <a:latin typeface="Helvetica Neue"/>
                <a:ea typeface="Helvetica Neue"/>
                <a:cs typeface="Helvetica Neue"/>
              </a:rPr>
              <a:t>What must travel downstream?</a:t>
            </a:r>
          </a:p>
          <a:p xmlns:a="http://schemas.openxmlformats.org/drawingml/2006/main">
            <a:pPr marL="228600" indent="-114300">
              <a:spcAft>
                <a:spcPts val="500"/>
              </a:spcAft>
              <a:buChar char="•"/>
              <a:defRPr sz="2025">
                <a:solidFill>
                  <a:srgbClr val="111318"/>
                </a:solidFill>
                <a:latin typeface="Helvetica Neue"/>
                <a:ea typeface="Helvetica Neue"/>
                <a:cs typeface="Helvetica Neue"/>
              </a:defRPr>
            </a:pPr>
            <a:r>
              <a:rPr sz="2025">
                <a:solidFill>
                  <a:srgbClr val="111318"/>
                </a:solidFill>
                <a:latin typeface="Helvetica Neue"/>
                <a:ea typeface="Helvetica Neue"/>
                <a:cs typeface="Helvetica Neue"/>
              </a:rPr>
              <a:t>For what purpose and how long?</a:t>
            </a:r>
          </a:p>
        </p:txBody>
      </p:sp>
      <p:sp>
        <p:nvSpPr>
          <p:cNvPr id="10" name="">
            <a:extLst xmlns:a="http://schemas.openxmlformats.org/drawingml/2006/main">
              <a:ext uri="{FF2B5EF4-FFF2-40B4-BE49-F238E27FC236}">
                <a16:creationId xmlns:a16="http://schemas.microsoft.com/office/drawing/2014/main" id="{C999F1E8-A1AB-4395-8328-CA34A8F7163B}"/>
              </a:ext>
            </a:extLst>
          </p:cNvPr>
          <p:cNvSpPr>
            <a:spLocks xmlns:a="http://schemas.openxmlformats.org/drawingml/2006/main" noGrp="1"/>
          </p:cNvSpPr>
          <p:nvPr/>
        </p:nvSpPr>
        <p:spPr>
          <a:xfrm xmlns:a="http://schemas.openxmlformats.org/drawingml/2006/main">
            <a:off x="1104900" y="5448300"/>
            <a:ext cx="1000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8878"/>
          </a:bodyPr>
          <a:lstStyle xmlns:a="http://schemas.openxmlformats.org/drawingml/2006/main"/>
          <a:p xmlns:a="http://schemas.openxmlformats.org/drawingml/2006/main">
            <a:pPr algn="ctr">
              <a:buNone/>
              <a:defRPr sz="2550" b="1" i="0">
                <a:solidFill>
                  <a:srgbClr val="185D9D"/>
                </a:solidFill>
                <a:latin typeface="Helvetica Neue"/>
                <a:ea typeface="Helvetica Neue"/>
                <a:cs typeface="Helvetica Neue"/>
              </a:defRPr>
            </a:pPr>
            <a:r>
              <a:rPr sz="2550" b="1" i="0">
                <a:solidFill>
                  <a:srgbClr val="185D9D"/>
                </a:solidFill>
                <a:latin typeface="Helvetica Neue"/>
                <a:ea typeface="Helvetica Neue"/>
                <a:cs typeface="Helvetica Neue"/>
              </a:rPr>
              <a:t>Validation tests the record. Disclosure and propagation still require purpose and authorization.</a:t>
            </a:r>
          </a:p>
        </p:txBody>
      </p:sp>
      <p:sp>
        <p:nvSpPr>
          <p:cNvPr id="12" name="ISOPE required footer">
            <a:extLst xmlns:a="http://schemas.openxmlformats.org/drawingml/2006/main">
              <a:ext uri="{FF2B5EF4-FFF2-40B4-BE49-F238E27FC236}">
                <a16:creationId xmlns:a16="http://schemas.microsoft.com/office/drawing/2014/main" id="{F1083967-B295-4BBC-9D2C-4E52C5FD1F86}"/>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746011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8-title">
            <a:extLst xmlns:a="http://schemas.openxmlformats.org/drawingml/2006/main">
              <a:ext uri="{FF2B5EF4-FFF2-40B4-BE49-F238E27FC236}">
                <a16:creationId xmlns:a16="http://schemas.microsoft.com/office/drawing/2014/main" id="{909A1567-95D4-46FC-9AFC-1AC4A0495608}"/>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Purpose-bound Selective Disclosure Tiers</a:t>
            </a:r>
          </a:p>
        </p:txBody>
      </p:sp>
      <p:sp>
        <p:nvSpPr>
          <p:cNvPr id="2" name="">
            <a:extLst xmlns:a="http://schemas.openxmlformats.org/drawingml/2006/main">
              <a:ext uri="{FF2B5EF4-FFF2-40B4-BE49-F238E27FC236}">
                <a16:creationId xmlns:a16="http://schemas.microsoft.com/office/drawing/2014/main" id="{8EAEE8AD-F668-44C0-91D6-01B90F4BDDA5}"/>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8-number">
            <a:extLst xmlns:a="http://schemas.openxmlformats.org/drawingml/2006/main">
              <a:ext uri="{FF2B5EF4-FFF2-40B4-BE49-F238E27FC236}">
                <a16:creationId xmlns:a16="http://schemas.microsoft.com/office/drawing/2014/main" id="{3C8B5642-18BA-479F-8DC8-6AFEAFDE4805}"/>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DBAB445A-570B-4BE9-8230-0FAA6611ADC6}"/>
              </a:ext>
            </a:extLst>
          </p:cNvPr>
          <p:cNvSpPr>
            <a:spLocks xmlns:a="http://schemas.openxmlformats.org/drawingml/2006/main" noGrp="1"/>
          </p:cNvSpPr>
          <p:nvPr/>
        </p:nvSpPr>
        <p:spPr>
          <a:xfrm xmlns:a="http://schemas.openxmlformats.org/drawingml/2006/main">
            <a:off x="666750" y="12382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555D69"/>
                </a:solidFill>
                <a:latin typeface="Helvetica Neue"/>
                <a:ea typeface="Helvetica Neue"/>
                <a:cs typeface="Helvetica Neue"/>
              </a:defRPr>
            </a:pPr>
            <a:r>
              <a:rPr sz="1200" b="1" i="0">
                <a:solidFill>
                  <a:srgbClr val="555D69"/>
                </a:solidFill>
                <a:latin typeface="Helvetica Neue"/>
                <a:ea typeface="Helvetica Neue"/>
                <a:cs typeface="Helvetica Neue"/>
              </a:rPr>
              <a:t>TIER</a:t>
            </a:r>
          </a:p>
        </p:txBody>
      </p:sp>
      <p:sp>
        <p:nvSpPr>
          <p:cNvPr id="5" name="">
            <a:extLst xmlns:a="http://schemas.openxmlformats.org/drawingml/2006/main">
              <a:ext uri="{FF2B5EF4-FFF2-40B4-BE49-F238E27FC236}">
                <a16:creationId xmlns:a16="http://schemas.microsoft.com/office/drawing/2014/main" id="{9E27C50B-2AEF-48FF-A653-7BF1F4AFA56A}"/>
              </a:ext>
            </a:extLst>
          </p:cNvPr>
          <p:cNvSpPr>
            <a:spLocks xmlns:a="http://schemas.openxmlformats.org/drawingml/2006/main" noGrp="1"/>
          </p:cNvSpPr>
          <p:nvPr/>
        </p:nvSpPr>
        <p:spPr>
          <a:xfrm xmlns:a="http://schemas.openxmlformats.org/drawingml/2006/main">
            <a:off x="3143250" y="12382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555D69"/>
                </a:solidFill>
                <a:latin typeface="Helvetica Neue"/>
                <a:ea typeface="Helvetica Neue"/>
                <a:cs typeface="Helvetica Neue"/>
              </a:defRPr>
            </a:pPr>
            <a:r>
              <a:rPr sz="1200" b="1" i="0">
                <a:solidFill>
                  <a:srgbClr val="555D69"/>
                </a:solidFill>
                <a:latin typeface="Helvetica Neue"/>
                <a:ea typeface="Helvetica Neue"/>
                <a:cs typeface="Helvetica Neue"/>
              </a:rPr>
              <a:t>DISCLOSURE</a:t>
            </a:r>
          </a:p>
        </p:txBody>
      </p:sp>
      <p:sp>
        <p:nvSpPr>
          <p:cNvPr id="6" name="">
            <a:extLst xmlns:a="http://schemas.openxmlformats.org/drawingml/2006/main">
              <a:ext uri="{FF2B5EF4-FFF2-40B4-BE49-F238E27FC236}">
                <a16:creationId xmlns:a16="http://schemas.microsoft.com/office/drawing/2014/main" id="{CC72F302-CAEC-4830-BCAD-E74FF2EAB929}"/>
              </a:ext>
            </a:extLst>
          </p:cNvPr>
          <p:cNvSpPr>
            <a:spLocks xmlns:a="http://schemas.openxmlformats.org/drawingml/2006/main" noGrp="1"/>
          </p:cNvSpPr>
          <p:nvPr/>
        </p:nvSpPr>
        <p:spPr>
          <a:xfrm xmlns:a="http://schemas.openxmlformats.org/drawingml/2006/main">
            <a:off x="8048625" y="12382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555D69"/>
                </a:solidFill>
                <a:latin typeface="Helvetica Neue"/>
                <a:ea typeface="Helvetica Neue"/>
                <a:cs typeface="Helvetica Neue"/>
              </a:defRPr>
            </a:pPr>
            <a:r>
              <a:rPr sz="1200" b="1" i="0">
                <a:solidFill>
                  <a:srgbClr val="555D69"/>
                </a:solidFill>
                <a:latin typeface="Helvetica Neue"/>
                <a:ea typeface="Helvetica Neue"/>
                <a:cs typeface="Helvetica Neue"/>
              </a:rPr>
              <a:t>SUFFICIENT FOR</a:t>
            </a:r>
          </a:p>
        </p:txBody>
      </p:sp>
      <p:sp>
        <p:nvSpPr>
          <p:cNvPr id="7" name="">
            <a:extLst xmlns:a="http://schemas.openxmlformats.org/drawingml/2006/main">
              <a:ext uri="{FF2B5EF4-FFF2-40B4-BE49-F238E27FC236}">
                <a16:creationId xmlns:a16="http://schemas.microsoft.com/office/drawing/2014/main" id="{176DA980-C02B-4D13-8416-84A38173D2F6}"/>
              </a:ext>
            </a:extLst>
          </p:cNvPr>
          <p:cNvSpPr>
            <a:spLocks xmlns:a="http://schemas.openxmlformats.org/drawingml/2006/main" noGrp="1"/>
          </p:cNvSpPr>
          <p:nvPr/>
        </p:nvSpPr>
        <p:spPr>
          <a:xfrm xmlns:a="http://schemas.openxmlformats.org/drawingml/2006/main">
            <a:off x="666750" y="1524000"/>
            <a:ext cx="10763250" cy="895350"/>
          </a:xfrm>
          <a:prstGeom xmlns:a="http://schemas.openxmlformats.org/drawingml/2006/main" prst="rect">
            <a:avLst/>
          </a:prstGeom>
          <a:solidFill xmlns:a="http://schemas.openxmlformats.org/drawingml/2006/main">
            <a:srgbClr val="EEF7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8F5F35-784E-4C06-9F83-C4E143C762F8}"/>
              </a:ext>
            </a:extLst>
          </p:cNvPr>
          <p:cNvSpPr>
            <a:spLocks xmlns:a="http://schemas.openxmlformats.org/drawingml/2006/main" noGrp="1"/>
          </p:cNvSpPr>
          <p:nvPr/>
        </p:nvSpPr>
        <p:spPr>
          <a:xfrm xmlns:a="http://schemas.openxmlformats.org/drawingml/2006/main">
            <a:off x="876300" y="172402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826"/>
          </a:bodyPr>
          <a:lstStyle xmlns:a="http://schemas.openxmlformats.org/drawingml/2006/main"/>
          <a:p xmlns:a="http://schemas.openxmlformats.org/drawingml/2006/main">
            <a:pPr algn="l">
              <a:buNone/>
              <a:defRPr sz="1725" b="1" i="0">
                <a:solidFill>
                  <a:srgbClr val="111318"/>
                </a:solidFill>
                <a:latin typeface="Helvetica Neue"/>
                <a:ea typeface="Helvetica Neue"/>
                <a:cs typeface="Helvetica Neue"/>
              </a:defRPr>
            </a:pPr>
            <a:r>
              <a:rPr sz="1725" b="1" i="0">
                <a:solidFill>
                  <a:srgbClr val="111318"/>
                </a:solidFill>
                <a:latin typeface="Helvetica Neue"/>
                <a:ea typeface="Helvetica Neue"/>
                <a:cs typeface="Helvetica Neue"/>
              </a:rPr>
              <a:t>Tier 0</a:t>
            </a:r>
          </a:p>
          <a:p xmlns:a="http://schemas.openxmlformats.org/drawingml/2006/main">
            <a:pPr algn="l">
              <a:buNone/>
              <a:defRPr sz="1725" b="1" i="0">
                <a:solidFill>
                  <a:srgbClr val="111318"/>
                </a:solidFill>
                <a:latin typeface="Helvetica Neue"/>
                <a:ea typeface="Helvetica Neue"/>
                <a:cs typeface="Helvetica Neue"/>
              </a:defRPr>
            </a:pPr>
            <a:r>
              <a:rPr sz="1725" b="1" i="0">
                <a:solidFill>
                  <a:srgbClr val="111318"/>
                </a:solidFill>
                <a:latin typeface="Helvetica Neue"/>
                <a:ea typeface="Helvetica Neue"/>
                <a:cs typeface="Helvetica Neue"/>
              </a:rPr>
              <a:t>Binary signal</a:t>
            </a:r>
          </a:p>
        </p:txBody>
      </p:sp>
      <p:sp>
        <p:nvSpPr>
          <p:cNvPr id="9" name="">
            <a:extLst xmlns:a="http://schemas.openxmlformats.org/drawingml/2006/main">
              <a:ext uri="{FF2B5EF4-FFF2-40B4-BE49-F238E27FC236}">
                <a16:creationId xmlns:a16="http://schemas.microsoft.com/office/drawing/2014/main" id="{B158EA01-B4C0-4835-850A-C1FD2828C9D5}"/>
              </a:ext>
            </a:extLst>
          </p:cNvPr>
          <p:cNvSpPr>
            <a:spLocks xmlns:a="http://schemas.openxmlformats.org/drawingml/2006/main" noGrp="1"/>
          </p:cNvSpPr>
          <p:nvPr/>
        </p:nvSpPr>
        <p:spPr>
          <a:xfrm xmlns:a="http://schemas.openxmlformats.org/drawingml/2006/main">
            <a:off x="3143250" y="1724025"/>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725" b="0" i="0">
                <a:solidFill>
                  <a:srgbClr val="111318"/>
                </a:solidFill>
                <a:latin typeface="Helvetica Neue"/>
                <a:ea typeface="Helvetica Neue"/>
                <a:cs typeface="Helvetica Neue"/>
              </a:defRPr>
            </a:pPr>
            <a:r>
              <a:rPr sz="1725" b="0" i="0">
                <a:solidFill>
                  <a:srgbClr val="111318"/>
                </a:solidFill>
                <a:latin typeface="Helvetica Neue"/>
                <a:ea typeface="Helvetica Neue"/>
                <a:cs typeface="Helvetica Neue"/>
              </a:rPr>
              <a:t>“AI was involved: yes/no”</a:t>
            </a:r>
          </a:p>
        </p:txBody>
      </p:sp>
      <p:sp>
        <p:nvSpPr>
          <p:cNvPr id="10" name="">
            <a:extLst xmlns:a="http://schemas.openxmlformats.org/drawingml/2006/main">
              <a:ext uri="{FF2B5EF4-FFF2-40B4-BE49-F238E27FC236}">
                <a16:creationId xmlns:a16="http://schemas.microsoft.com/office/drawing/2014/main" id="{D736B65E-9148-4518-876D-53BB49C5D950}"/>
              </a:ext>
            </a:extLst>
          </p:cNvPr>
          <p:cNvSpPr>
            <a:spLocks xmlns:a="http://schemas.openxmlformats.org/drawingml/2006/main" noGrp="1"/>
          </p:cNvSpPr>
          <p:nvPr/>
        </p:nvSpPr>
        <p:spPr>
          <a:xfrm xmlns:a="http://schemas.openxmlformats.org/drawingml/2006/main">
            <a:off x="8048625" y="16764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00" b="0" i="0">
                <a:solidFill>
                  <a:srgbClr val="111318"/>
                </a:solidFill>
                <a:latin typeface="Helvetica Neue"/>
                <a:ea typeface="Helvetica Neue"/>
                <a:cs typeface="Helvetica Neue"/>
              </a:defRPr>
            </a:pPr>
            <a:r>
              <a:rPr sz="1500" b="0" i="0">
                <a:solidFill>
                  <a:srgbClr val="111318"/>
                </a:solidFill>
                <a:latin typeface="Helvetica Neue"/>
                <a:ea typeface="Helvetica Neue"/>
                <a:cs typeface="Helvetica Neue"/>
              </a:rPr>
              <a:t>Personal scam defense and some automated platform compliance</a:t>
            </a:r>
          </a:p>
        </p:txBody>
      </p:sp>
      <p:sp>
        <p:nvSpPr>
          <p:cNvPr id="11" name="">
            <a:extLst xmlns:a="http://schemas.openxmlformats.org/drawingml/2006/main">
              <a:ext uri="{FF2B5EF4-FFF2-40B4-BE49-F238E27FC236}">
                <a16:creationId xmlns:a16="http://schemas.microsoft.com/office/drawing/2014/main" id="{314CB9AD-C336-4995-AF75-4B8530E28AFF}"/>
              </a:ext>
            </a:extLst>
          </p:cNvPr>
          <p:cNvSpPr>
            <a:spLocks xmlns:a="http://schemas.openxmlformats.org/drawingml/2006/main" noGrp="1"/>
          </p:cNvSpPr>
          <p:nvPr/>
        </p:nvSpPr>
        <p:spPr>
          <a:xfrm xmlns:a="http://schemas.openxmlformats.org/drawingml/2006/main">
            <a:off x="666750" y="2571750"/>
            <a:ext cx="10763250" cy="895350"/>
          </a:xfrm>
          <a:prstGeom xmlns:a="http://schemas.openxmlformats.org/drawingml/2006/main" prst="rect">
            <a:avLst/>
          </a:prstGeom>
          <a:solidFill xmlns:a="http://schemas.openxmlformats.org/drawingml/2006/main">
            <a:srgbClr val="D7ED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56A7D5-C9AE-463F-AB4F-661904CB1EED}"/>
              </a:ext>
            </a:extLst>
          </p:cNvPr>
          <p:cNvSpPr>
            <a:spLocks xmlns:a="http://schemas.openxmlformats.org/drawingml/2006/main" noGrp="1"/>
          </p:cNvSpPr>
          <p:nvPr/>
        </p:nvSpPr>
        <p:spPr>
          <a:xfrm xmlns:a="http://schemas.openxmlformats.org/drawingml/2006/main">
            <a:off x="876300" y="277177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2459"/>
          </a:bodyPr>
          <a:lstStyle xmlns:a="http://schemas.openxmlformats.org/drawingml/2006/main"/>
          <a:p xmlns:a="http://schemas.openxmlformats.org/drawingml/2006/main">
            <a:pPr algn="l">
              <a:buNone/>
              <a:defRPr sz="1725" b="1" i="0">
                <a:solidFill>
                  <a:srgbClr val="111318"/>
                </a:solidFill>
                <a:latin typeface="Helvetica Neue"/>
                <a:ea typeface="Helvetica Neue"/>
                <a:cs typeface="Helvetica Neue"/>
              </a:defRPr>
            </a:pPr>
            <a:r>
              <a:rPr sz="1725" b="1" i="0">
                <a:solidFill>
                  <a:srgbClr val="111318"/>
                </a:solidFill>
                <a:latin typeface="Helvetica Neue"/>
                <a:ea typeface="Helvetica Neue"/>
                <a:cs typeface="Helvetica Neue"/>
              </a:rPr>
              <a:t>Tier 1</a:t>
            </a:r>
          </a:p>
          <a:p xmlns:a="http://schemas.openxmlformats.org/drawingml/2006/main">
            <a:pPr algn="l">
              <a:buNone/>
              <a:defRPr sz="1725" b="1" i="0">
                <a:solidFill>
                  <a:srgbClr val="111318"/>
                </a:solidFill>
                <a:latin typeface="Helvetica Neue"/>
                <a:ea typeface="Helvetica Neue"/>
                <a:cs typeface="Helvetica Neue"/>
              </a:defRPr>
            </a:pPr>
            <a:r>
              <a:rPr sz="1725" b="1" i="0">
                <a:solidFill>
                  <a:srgbClr val="111318"/>
                </a:solidFill>
                <a:latin typeface="Helvetica Neue"/>
                <a:ea typeface="Helvetica Neue"/>
                <a:cs typeface="Helvetica Neue"/>
              </a:rPr>
              <a:t>Category + time window</a:t>
            </a:r>
          </a:p>
        </p:txBody>
      </p:sp>
      <p:sp>
        <p:nvSpPr>
          <p:cNvPr id="13" name="">
            <a:extLst xmlns:a="http://schemas.openxmlformats.org/drawingml/2006/main">
              <a:ext uri="{FF2B5EF4-FFF2-40B4-BE49-F238E27FC236}">
                <a16:creationId xmlns:a16="http://schemas.microsoft.com/office/drawing/2014/main" id="{FF292162-1F67-4B58-9377-16752C68651B}"/>
              </a:ext>
            </a:extLst>
          </p:cNvPr>
          <p:cNvSpPr>
            <a:spLocks xmlns:a="http://schemas.openxmlformats.org/drawingml/2006/main" noGrp="1"/>
          </p:cNvSpPr>
          <p:nvPr/>
        </p:nvSpPr>
        <p:spPr>
          <a:xfrm xmlns:a="http://schemas.openxmlformats.org/drawingml/2006/main">
            <a:off x="3143250" y="2771775"/>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725" b="0" i="0">
                <a:solidFill>
                  <a:srgbClr val="111318"/>
                </a:solidFill>
                <a:latin typeface="Helvetica Neue"/>
                <a:ea typeface="Helvetica Neue"/>
                <a:cs typeface="Helvetica Neue"/>
              </a:defRPr>
            </a:pPr>
            <a:r>
              <a:rPr sz="1725" b="0" i="0">
                <a:solidFill>
                  <a:srgbClr val="111318"/>
                </a:solidFill>
                <a:latin typeface="Helvetica Neue"/>
                <a:ea typeface="Helvetica Neue"/>
                <a:cs typeface="Helvetica Neue"/>
              </a:rPr>
              <a:t>“AI-generated image, created Q2 2026”</a:t>
            </a:r>
          </a:p>
        </p:txBody>
      </p:sp>
      <p:sp>
        <p:nvSpPr>
          <p:cNvPr id="14" name="">
            <a:extLst xmlns:a="http://schemas.openxmlformats.org/drawingml/2006/main">
              <a:ext uri="{FF2B5EF4-FFF2-40B4-BE49-F238E27FC236}">
                <a16:creationId xmlns:a16="http://schemas.microsoft.com/office/drawing/2014/main" id="{52EFA00F-38C8-4B52-9A5F-40DF4A5B7969}"/>
              </a:ext>
            </a:extLst>
          </p:cNvPr>
          <p:cNvSpPr>
            <a:spLocks xmlns:a="http://schemas.openxmlformats.org/drawingml/2006/main" noGrp="1"/>
          </p:cNvSpPr>
          <p:nvPr/>
        </p:nvSpPr>
        <p:spPr>
          <a:xfrm xmlns:a="http://schemas.openxmlformats.org/drawingml/2006/main">
            <a:off x="8048625" y="27241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00" b="0" i="0">
                <a:solidFill>
                  <a:srgbClr val="111318"/>
                </a:solidFill>
                <a:latin typeface="Helvetica Neue"/>
                <a:ea typeface="Helvetica Neue"/>
                <a:cs typeface="Helvetica Neue"/>
              </a:defRPr>
            </a:pPr>
            <a:r>
              <a:rPr sz="1500" b="0" i="0">
                <a:solidFill>
                  <a:srgbClr val="111318"/>
                </a:solidFill>
                <a:latin typeface="Helvetica Neue"/>
                <a:ea typeface="Helvetica Neue"/>
                <a:cs typeface="Helvetica Neue"/>
              </a:rPr>
              <a:t>General platform labeling</a:t>
            </a:r>
          </a:p>
        </p:txBody>
      </p:sp>
      <p:sp>
        <p:nvSpPr>
          <p:cNvPr id="15" name="">
            <a:extLst xmlns:a="http://schemas.openxmlformats.org/drawingml/2006/main">
              <a:ext uri="{FF2B5EF4-FFF2-40B4-BE49-F238E27FC236}">
                <a16:creationId xmlns:a16="http://schemas.microsoft.com/office/drawing/2014/main" id="{BF78AFD9-9C54-4AB4-9672-826BA54B2A8E}"/>
              </a:ext>
            </a:extLst>
          </p:cNvPr>
          <p:cNvSpPr>
            <a:spLocks xmlns:a="http://schemas.openxmlformats.org/drawingml/2006/main" noGrp="1"/>
          </p:cNvSpPr>
          <p:nvPr/>
        </p:nvSpPr>
        <p:spPr>
          <a:xfrm xmlns:a="http://schemas.openxmlformats.org/drawingml/2006/main">
            <a:off x="666750" y="3619500"/>
            <a:ext cx="10763250" cy="895350"/>
          </a:xfrm>
          <a:prstGeom xmlns:a="http://schemas.openxmlformats.org/drawingml/2006/main" prst="rect">
            <a:avLst/>
          </a:prstGeom>
          <a:solidFill xmlns:a="http://schemas.openxmlformats.org/drawingml/2006/main">
            <a:srgbClr val="91CEE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DAC6F60-DFB5-43FD-BAAA-CCED7CD4A5C9}"/>
              </a:ext>
            </a:extLst>
          </p:cNvPr>
          <p:cNvSpPr>
            <a:spLocks xmlns:a="http://schemas.openxmlformats.org/drawingml/2006/main" noGrp="1"/>
          </p:cNvSpPr>
          <p:nvPr/>
        </p:nvSpPr>
        <p:spPr>
          <a:xfrm xmlns:a="http://schemas.openxmlformats.org/drawingml/2006/main">
            <a:off x="876300" y="381952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5411"/>
          </a:bodyPr>
          <a:lstStyle xmlns:a="http://schemas.openxmlformats.org/drawingml/2006/main"/>
          <a:p xmlns:a="http://schemas.openxmlformats.org/drawingml/2006/main">
            <a:pPr algn="l">
              <a:buNone/>
              <a:defRPr sz="1725" b="1" i="0">
                <a:solidFill>
                  <a:srgbClr val="111318"/>
                </a:solidFill>
                <a:latin typeface="Helvetica Neue"/>
                <a:ea typeface="Helvetica Neue"/>
                <a:cs typeface="Helvetica Neue"/>
              </a:defRPr>
            </a:pPr>
            <a:r>
              <a:rPr sz="1725" b="1" i="0">
                <a:solidFill>
                  <a:srgbClr val="111318"/>
                </a:solidFill>
                <a:latin typeface="Helvetica Neue"/>
                <a:ea typeface="Helvetica Neue"/>
                <a:cs typeface="Helvetica Neue"/>
              </a:rPr>
              <a:t>Tier 2</a:t>
            </a:r>
          </a:p>
          <a:p xmlns:a="http://schemas.openxmlformats.org/drawingml/2006/main">
            <a:pPr algn="l">
              <a:buNone/>
              <a:defRPr sz="1725" b="1" i="0">
                <a:solidFill>
                  <a:srgbClr val="111318"/>
                </a:solidFill>
                <a:latin typeface="Helvetica Neue"/>
                <a:ea typeface="Helvetica Neue"/>
                <a:cs typeface="Helvetica Neue"/>
              </a:defRPr>
            </a:pPr>
            <a:r>
              <a:rPr sz="1725" b="1" i="0">
                <a:solidFill>
                  <a:srgbClr val="111318"/>
                </a:solidFill>
                <a:latin typeface="Helvetica Neue"/>
                <a:ea typeface="Helvetica Neue"/>
                <a:cs typeface="Helvetica Neue"/>
              </a:rPr>
              <a:t>Tool class + action type</a:t>
            </a:r>
          </a:p>
        </p:txBody>
      </p:sp>
      <p:sp>
        <p:nvSpPr>
          <p:cNvPr id="17" name="">
            <a:extLst xmlns:a="http://schemas.openxmlformats.org/drawingml/2006/main">
              <a:ext uri="{FF2B5EF4-FFF2-40B4-BE49-F238E27FC236}">
                <a16:creationId xmlns:a16="http://schemas.microsoft.com/office/drawing/2014/main" id="{90E62122-210A-4F12-9446-B9C9D7F15EBA}"/>
              </a:ext>
            </a:extLst>
          </p:cNvPr>
          <p:cNvSpPr>
            <a:spLocks xmlns:a="http://schemas.openxmlformats.org/drawingml/2006/main" noGrp="1"/>
          </p:cNvSpPr>
          <p:nvPr/>
        </p:nvSpPr>
        <p:spPr>
          <a:xfrm xmlns:a="http://schemas.openxmlformats.org/drawingml/2006/main">
            <a:off x="3143250" y="3819525"/>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725" b="0" i="0">
                <a:solidFill>
                  <a:srgbClr val="111318"/>
                </a:solidFill>
                <a:latin typeface="Helvetica Neue"/>
                <a:ea typeface="Helvetica Neue"/>
                <a:cs typeface="Helvetica Neue"/>
              </a:defRPr>
            </a:pPr>
            <a:r>
              <a:rPr sz="1725" b="0" i="0">
                <a:solidFill>
                  <a:srgbClr val="111318"/>
                </a:solidFill>
                <a:latin typeface="Helvetica Neue"/>
                <a:ea typeface="Helvetica Neue"/>
                <a:cs typeface="Helvetica Neue"/>
              </a:rPr>
              <a:t>“Image edited with generative fill”</a:t>
            </a:r>
          </a:p>
        </p:txBody>
      </p:sp>
      <p:sp>
        <p:nvSpPr>
          <p:cNvPr id="18" name="">
            <a:extLst xmlns:a="http://schemas.openxmlformats.org/drawingml/2006/main">
              <a:ext uri="{FF2B5EF4-FFF2-40B4-BE49-F238E27FC236}">
                <a16:creationId xmlns:a16="http://schemas.microsoft.com/office/drawing/2014/main" id="{42277D1C-F708-4443-A1E5-32FE64FC21C0}"/>
              </a:ext>
            </a:extLst>
          </p:cNvPr>
          <p:cNvSpPr>
            <a:spLocks xmlns:a="http://schemas.openxmlformats.org/drawingml/2006/main" noGrp="1"/>
          </p:cNvSpPr>
          <p:nvPr/>
        </p:nvSpPr>
        <p:spPr>
          <a:xfrm xmlns:a="http://schemas.openxmlformats.org/drawingml/2006/main">
            <a:off x="8048625" y="37719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00" b="0" i="0">
                <a:solidFill>
                  <a:srgbClr val="111318"/>
                </a:solidFill>
                <a:latin typeface="Helvetica Neue"/>
                <a:ea typeface="Helvetica Neue"/>
                <a:cs typeface="Helvetica Neue"/>
              </a:defRPr>
            </a:pPr>
            <a:r>
              <a:rPr sz="1500" b="0" i="0">
                <a:solidFill>
                  <a:srgbClr val="111318"/>
                </a:solidFill>
                <a:latin typeface="Helvetica Neue"/>
                <a:ea typeface="Helvetica Neue"/>
                <a:cs typeface="Helvetica Neue"/>
              </a:rPr>
              <a:t>Newsroom verification and contextual labeling</a:t>
            </a:r>
          </a:p>
        </p:txBody>
      </p:sp>
      <p:sp>
        <p:nvSpPr>
          <p:cNvPr id="19" name="">
            <a:extLst xmlns:a="http://schemas.openxmlformats.org/drawingml/2006/main">
              <a:ext uri="{FF2B5EF4-FFF2-40B4-BE49-F238E27FC236}">
                <a16:creationId xmlns:a16="http://schemas.microsoft.com/office/drawing/2014/main" id="{03E64F79-988E-4554-A70C-122CB339B39B}"/>
              </a:ext>
            </a:extLst>
          </p:cNvPr>
          <p:cNvSpPr>
            <a:spLocks xmlns:a="http://schemas.openxmlformats.org/drawingml/2006/main" noGrp="1"/>
          </p:cNvSpPr>
          <p:nvPr/>
        </p:nvSpPr>
        <p:spPr>
          <a:xfrm xmlns:a="http://schemas.openxmlformats.org/drawingml/2006/main">
            <a:off x="666750" y="4667250"/>
            <a:ext cx="10763250" cy="895350"/>
          </a:xfrm>
          <a:prstGeom xmlns:a="http://schemas.openxmlformats.org/drawingml/2006/main" prst="rect">
            <a:avLst/>
          </a:prstGeom>
          <a:solidFill xmlns:a="http://schemas.openxmlformats.org/drawingml/2006/main">
            <a:srgbClr val="185D9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75F823B-C88C-4A86-A477-7774F5E500B6}"/>
              </a:ext>
            </a:extLst>
          </p:cNvPr>
          <p:cNvSpPr>
            <a:spLocks xmlns:a="http://schemas.openxmlformats.org/drawingml/2006/main" noGrp="1"/>
          </p:cNvSpPr>
          <p:nvPr/>
        </p:nvSpPr>
        <p:spPr>
          <a:xfrm xmlns:a="http://schemas.openxmlformats.org/drawingml/2006/main">
            <a:off x="876300" y="486727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1559"/>
          </a:bodyPr>
          <a:lstStyle xmlns:a="http://schemas.openxmlformats.org/drawingml/2006/main"/>
          <a:p xmlns:a="http://schemas.openxmlformats.org/drawingml/2006/main">
            <a:pPr algn="l">
              <a:buNone/>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Tier 3</a:t>
            </a:r>
          </a:p>
          <a:p xmlns:a="http://schemas.openxmlformats.org/drawingml/2006/main">
            <a:pPr algn="l">
              <a:buNone/>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Full provenance chain</a:t>
            </a:r>
          </a:p>
        </p:txBody>
      </p:sp>
      <p:sp>
        <p:nvSpPr>
          <p:cNvPr id="21" name="">
            <a:extLst xmlns:a="http://schemas.openxmlformats.org/drawingml/2006/main">
              <a:ext uri="{FF2B5EF4-FFF2-40B4-BE49-F238E27FC236}">
                <a16:creationId xmlns:a16="http://schemas.microsoft.com/office/drawing/2014/main" id="{4AC95C25-7B54-443F-8753-FC04C3CDF7E1}"/>
              </a:ext>
            </a:extLst>
          </p:cNvPr>
          <p:cNvSpPr>
            <a:spLocks xmlns:a="http://schemas.openxmlformats.org/drawingml/2006/main" noGrp="1"/>
          </p:cNvSpPr>
          <p:nvPr/>
        </p:nvSpPr>
        <p:spPr>
          <a:xfrm xmlns:a="http://schemas.openxmlformats.org/drawingml/2006/main">
            <a:off x="3143250" y="4867275"/>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826"/>
          </a:bodyPr>
          <a:lstStyle xmlns:a="http://schemas.openxmlformats.org/drawingml/2006/main"/>
          <a:p xmlns:a="http://schemas.openxmlformats.org/drawingml/2006/main">
            <a:pPr algn="l">
              <a:buNone/>
              <a:defRPr sz="1725" b="0" i="0">
                <a:solidFill>
                  <a:srgbClr val="FFFFFF"/>
                </a:solidFill>
                <a:latin typeface="Helvetica Neue"/>
                <a:ea typeface="Helvetica Neue"/>
                <a:cs typeface="Helvetica Neue"/>
              </a:defRPr>
            </a:pPr>
            <a:r>
              <a:rPr sz="1725" b="0" i="0">
                <a:solidFill>
                  <a:srgbClr val="FFFFFF"/>
                </a:solidFill>
                <a:latin typeface="Helvetica Neue"/>
                <a:ea typeface="Helvetica Neue"/>
                <a:cs typeface="Helvetica Neue"/>
              </a:rPr>
              <a:t>Complete history, tool identifiers, and inherited metadata</a:t>
            </a:r>
          </a:p>
        </p:txBody>
      </p:sp>
      <p:sp>
        <p:nvSpPr>
          <p:cNvPr id="22" name="">
            <a:extLst xmlns:a="http://schemas.openxmlformats.org/drawingml/2006/main">
              <a:ext uri="{FF2B5EF4-FFF2-40B4-BE49-F238E27FC236}">
                <a16:creationId xmlns:a16="http://schemas.microsoft.com/office/drawing/2014/main" id="{4144FB62-CF60-482E-8518-816F4C304E39}"/>
              </a:ext>
            </a:extLst>
          </p:cNvPr>
          <p:cNvSpPr>
            <a:spLocks xmlns:a="http://schemas.openxmlformats.org/drawingml/2006/main" noGrp="1"/>
          </p:cNvSpPr>
          <p:nvPr/>
        </p:nvSpPr>
        <p:spPr>
          <a:xfrm xmlns:a="http://schemas.openxmlformats.org/drawingml/2006/main">
            <a:off x="8048625" y="48196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00" b="0" i="0">
                <a:solidFill>
                  <a:srgbClr val="FFFFFF"/>
                </a:solidFill>
                <a:latin typeface="Helvetica Neue"/>
                <a:ea typeface="Helvetica Neue"/>
                <a:cs typeface="Helvetica Neue"/>
              </a:defRPr>
            </a:pPr>
            <a:r>
              <a:rPr sz="1500" b="0" i="0">
                <a:solidFill>
                  <a:srgbClr val="FFFFFF"/>
                </a:solidFill>
                <a:latin typeface="Helvetica Neue"/>
                <a:ea typeface="Helvetica Neue"/>
                <a:cs typeface="Helvetica Neue"/>
              </a:rPr>
              <a:t>Internal audits, legal processes, and other high-accountability settings</a:t>
            </a:r>
          </a:p>
        </p:txBody>
      </p:sp>
      <p:sp>
        <p:nvSpPr>
          <p:cNvPr id="25" name="ISOPE required footer">
            <a:extLst xmlns:a="http://schemas.openxmlformats.org/drawingml/2006/main">
              <a:ext uri="{FF2B5EF4-FFF2-40B4-BE49-F238E27FC236}">
                <a16:creationId xmlns:a16="http://schemas.microsoft.com/office/drawing/2014/main" id="{1BB8C7CC-2460-4512-A27E-477F08059246}"/>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15933183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12-title">
            <a:extLst xmlns:a="http://schemas.openxmlformats.org/drawingml/2006/main">
              <a:ext uri="{FF2B5EF4-FFF2-40B4-BE49-F238E27FC236}">
                <a16:creationId xmlns:a16="http://schemas.microsoft.com/office/drawing/2014/main" id="{B9C2B873-8A11-4B9F-AF86-0080A1D48043}"/>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Tier selection and enforcement</a:t>
            </a:r>
          </a:p>
        </p:txBody>
      </p:sp>
      <p:sp>
        <p:nvSpPr>
          <p:cNvPr id="2" name="">
            <a:extLst xmlns:a="http://schemas.openxmlformats.org/drawingml/2006/main">
              <a:ext uri="{FF2B5EF4-FFF2-40B4-BE49-F238E27FC236}">
                <a16:creationId xmlns:a16="http://schemas.microsoft.com/office/drawing/2014/main" id="{E9C2157E-6145-4FF1-99A0-339FC21C9482}"/>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12-number">
            <a:extLst xmlns:a="http://schemas.openxmlformats.org/drawingml/2006/main">
              <a:ext uri="{FF2B5EF4-FFF2-40B4-BE49-F238E27FC236}">
                <a16:creationId xmlns:a16="http://schemas.microsoft.com/office/drawing/2014/main" id="{F66267CA-82DB-4284-8489-D6DCE3FB14CA}"/>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6EE6D024-6E4E-4409-B2F6-62D6E1B676A6}"/>
              </a:ext>
            </a:extLst>
          </p:cNvPr>
          <p:cNvSpPr>
            <a:spLocks xmlns:a="http://schemas.openxmlformats.org/drawingml/2006/main" noGrp="1"/>
          </p:cNvSpPr>
          <p:nvPr/>
        </p:nvSpPr>
        <p:spPr>
          <a:xfrm xmlns:a="http://schemas.openxmlformats.org/drawingml/2006/main">
            <a:off x="1571625" y="2714625"/>
            <a:ext cx="9048750" cy="953"/>
          </a:xfrm>
          <a:prstGeom xmlns:a="http://schemas.openxmlformats.org/drawingml/2006/main" prst="line">
            <a:avLst/>
          </a:prstGeom>
          <a:noFill xmlns:a="http://schemas.openxmlformats.org/drawingml/2006/main"/>
          <a:ln xmlns:a="http://schemas.openxmlformats.org/drawingml/2006/main" w="38100">
            <a:solidFill>
              <a:srgbClr val="BBC3CC"/>
            </a:solidFill>
            <a:prstDash val="solid"/>
          </a:ln>
        </p:spPr>
      </p:sp>
      <p:sp>
        <p:nvSpPr>
          <p:cNvPr id="5" name="">
            <a:extLst xmlns:a="http://schemas.openxmlformats.org/drawingml/2006/main">
              <a:ext uri="{FF2B5EF4-FFF2-40B4-BE49-F238E27FC236}">
                <a16:creationId xmlns:a16="http://schemas.microsoft.com/office/drawing/2014/main" id="{5F59D0C0-89EE-435C-B416-DA65FAD0D4F6}"/>
              </a:ext>
            </a:extLst>
          </p:cNvPr>
          <p:cNvSpPr>
            <a:spLocks xmlns:a="http://schemas.openxmlformats.org/drawingml/2006/main" noGrp="1"/>
          </p:cNvSpPr>
          <p:nvPr/>
        </p:nvSpPr>
        <p:spPr>
          <a:xfrm xmlns:a="http://schemas.openxmlformats.org/drawingml/2006/main">
            <a:off x="1352550" y="2352675"/>
            <a:ext cx="723900" cy="723900"/>
          </a:xfrm>
          <a:prstGeom xmlns:a="http://schemas.openxmlformats.org/drawingml/2006/main" prst="ellipse">
            <a:avLst/>
          </a:prstGeom>
          <a:solidFill xmlns:a="http://schemas.openxmlformats.org/drawingml/2006/main">
            <a:srgbClr val="FFFFFF"/>
          </a:solidFill>
          <a:ln xmlns:a="http://schemas.openxmlformats.org/drawingml/2006/main" w="38100">
            <a:solidFill>
              <a:srgbClr val="3D8DFF"/>
            </a:solidFill>
            <a:prstDash val="solid"/>
          </a:ln>
        </p:spPr>
      </p:sp>
      <p:sp>
        <p:nvSpPr>
          <p:cNvPr id="6" name="">
            <a:extLst xmlns:a="http://schemas.openxmlformats.org/drawingml/2006/main">
              <a:ext uri="{FF2B5EF4-FFF2-40B4-BE49-F238E27FC236}">
                <a16:creationId xmlns:a16="http://schemas.microsoft.com/office/drawing/2014/main" id="{A1C3AB10-45EF-4F0B-B550-C444EDADB56F}"/>
              </a:ext>
            </a:extLst>
          </p:cNvPr>
          <p:cNvSpPr>
            <a:spLocks xmlns:a="http://schemas.openxmlformats.org/drawingml/2006/main" noGrp="1"/>
          </p:cNvSpPr>
          <p:nvPr/>
        </p:nvSpPr>
        <p:spPr>
          <a:xfrm xmlns:a="http://schemas.openxmlformats.org/drawingml/2006/main">
            <a:off x="1428750" y="2400300"/>
            <a:ext cx="57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325" b="1" i="0">
                <a:solidFill>
                  <a:srgbClr val="185D9D"/>
                </a:solidFill>
                <a:latin typeface="Helvetica Neue"/>
                <a:ea typeface="Helvetica Neue"/>
                <a:cs typeface="Helvetica Neue"/>
              </a:defRPr>
            </a:pPr>
            <a:r>
              <a:rPr sz="2325" b="1" i="0">
                <a:solidFill>
                  <a:srgbClr val="185D9D"/>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3CBC66F2-34E4-4309-B3BA-21D3004F4E94}"/>
              </a:ext>
            </a:extLst>
          </p:cNvPr>
          <p:cNvSpPr>
            <a:spLocks xmlns:a="http://schemas.openxmlformats.org/drawingml/2006/main" noGrp="1"/>
          </p:cNvSpPr>
          <p:nvPr/>
        </p:nvSpPr>
        <p:spPr>
          <a:xfrm xmlns:a="http://schemas.openxmlformats.org/drawingml/2006/main">
            <a:off x="476250" y="3381375"/>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Define the</a:t>
            </a:r>
          </a:p>
          <a:p xmlns:a="http://schemas.openxmlformats.org/drawingml/2006/main">
            <a:pPr algn="ctr">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integrity question</a:t>
            </a:r>
          </a:p>
        </p:txBody>
      </p:sp>
      <p:sp>
        <p:nvSpPr>
          <p:cNvPr id="8" name="">
            <a:extLst xmlns:a="http://schemas.openxmlformats.org/drawingml/2006/main">
              <a:ext uri="{FF2B5EF4-FFF2-40B4-BE49-F238E27FC236}">
                <a16:creationId xmlns:a16="http://schemas.microsoft.com/office/drawing/2014/main" id="{FEFB226E-2D69-4B28-802D-154D83E50A9F}"/>
              </a:ext>
            </a:extLst>
          </p:cNvPr>
          <p:cNvSpPr>
            <a:spLocks xmlns:a="http://schemas.openxmlformats.org/drawingml/2006/main" noGrp="1"/>
          </p:cNvSpPr>
          <p:nvPr/>
        </p:nvSpPr>
        <p:spPr>
          <a:xfrm xmlns:a="http://schemas.openxmlformats.org/drawingml/2006/main">
            <a:off x="4257675" y="2352675"/>
            <a:ext cx="723900" cy="723900"/>
          </a:xfrm>
          <a:prstGeom xmlns:a="http://schemas.openxmlformats.org/drawingml/2006/main" prst="ellipse">
            <a:avLst/>
          </a:prstGeom>
          <a:solidFill xmlns:a="http://schemas.openxmlformats.org/drawingml/2006/main">
            <a:srgbClr val="FFFFFF"/>
          </a:solidFill>
          <a:ln xmlns:a="http://schemas.openxmlformats.org/drawingml/2006/main" w="38100">
            <a:solidFill>
              <a:srgbClr val="3D8DFF"/>
            </a:solidFill>
            <a:prstDash val="solid"/>
          </a:ln>
        </p:spPr>
      </p:sp>
      <p:sp>
        <p:nvSpPr>
          <p:cNvPr id="9" name="">
            <a:extLst xmlns:a="http://schemas.openxmlformats.org/drawingml/2006/main">
              <a:ext uri="{FF2B5EF4-FFF2-40B4-BE49-F238E27FC236}">
                <a16:creationId xmlns:a16="http://schemas.microsoft.com/office/drawing/2014/main" id="{90E9B0E4-B294-49FE-964F-57E82FB69238}"/>
              </a:ext>
            </a:extLst>
          </p:cNvPr>
          <p:cNvSpPr>
            <a:spLocks xmlns:a="http://schemas.openxmlformats.org/drawingml/2006/main" noGrp="1"/>
          </p:cNvSpPr>
          <p:nvPr/>
        </p:nvSpPr>
        <p:spPr>
          <a:xfrm xmlns:a="http://schemas.openxmlformats.org/drawingml/2006/main">
            <a:off x="4333875" y="2400300"/>
            <a:ext cx="57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325" b="1" i="0">
                <a:solidFill>
                  <a:srgbClr val="185D9D"/>
                </a:solidFill>
                <a:latin typeface="Helvetica Neue"/>
                <a:ea typeface="Helvetica Neue"/>
                <a:cs typeface="Helvetica Neue"/>
              </a:defRPr>
            </a:pPr>
            <a:r>
              <a:rPr sz="2325" b="1" i="0">
                <a:solidFill>
                  <a:srgbClr val="185D9D"/>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DC60917F-239B-48B1-AF31-87A7DFF9D4E4}"/>
              </a:ext>
            </a:extLst>
          </p:cNvPr>
          <p:cNvSpPr>
            <a:spLocks xmlns:a="http://schemas.openxmlformats.org/drawingml/2006/main" noGrp="1"/>
          </p:cNvSpPr>
          <p:nvPr/>
        </p:nvSpPr>
        <p:spPr>
          <a:xfrm xmlns:a="http://schemas.openxmlformats.org/drawingml/2006/main">
            <a:off x="3381375" y="3381375"/>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Select the</a:t>
            </a:r>
          </a:p>
          <a:p xmlns:a="http://schemas.openxmlformats.org/drawingml/2006/main">
            <a:pPr algn="ctr">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minimum tier</a:t>
            </a:r>
          </a:p>
        </p:txBody>
      </p:sp>
      <p:sp>
        <p:nvSpPr>
          <p:cNvPr id="11" name="">
            <a:extLst xmlns:a="http://schemas.openxmlformats.org/drawingml/2006/main">
              <a:ext uri="{FF2B5EF4-FFF2-40B4-BE49-F238E27FC236}">
                <a16:creationId xmlns:a16="http://schemas.microsoft.com/office/drawing/2014/main" id="{786D4F0F-4D9B-4A47-BFAD-4C4377A2BBE5}"/>
              </a:ext>
            </a:extLst>
          </p:cNvPr>
          <p:cNvSpPr>
            <a:spLocks xmlns:a="http://schemas.openxmlformats.org/drawingml/2006/main" noGrp="1"/>
          </p:cNvSpPr>
          <p:nvPr/>
        </p:nvSpPr>
        <p:spPr>
          <a:xfrm xmlns:a="http://schemas.openxmlformats.org/drawingml/2006/main">
            <a:off x="7210425" y="2352675"/>
            <a:ext cx="723900" cy="723900"/>
          </a:xfrm>
          <a:prstGeom xmlns:a="http://schemas.openxmlformats.org/drawingml/2006/main" prst="ellipse">
            <a:avLst/>
          </a:prstGeom>
          <a:solidFill xmlns:a="http://schemas.openxmlformats.org/drawingml/2006/main">
            <a:srgbClr val="FFFFFF"/>
          </a:solidFill>
          <a:ln xmlns:a="http://schemas.openxmlformats.org/drawingml/2006/main" w="38100">
            <a:solidFill>
              <a:srgbClr val="3D8DFF"/>
            </a:solidFill>
            <a:prstDash val="solid"/>
          </a:ln>
        </p:spPr>
      </p:sp>
      <p:sp>
        <p:nvSpPr>
          <p:cNvPr id="12" name="">
            <a:extLst xmlns:a="http://schemas.openxmlformats.org/drawingml/2006/main">
              <a:ext uri="{FF2B5EF4-FFF2-40B4-BE49-F238E27FC236}">
                <a16:creationId xmlns:a16="http://schemas.microsoft.com/office/drawing/2014/main" id="{553C66BF-60AA-4CFD-96B5-7A98AF045D87}"/>
              </a:ext>
            </a:extLst>
          </p:cNvPr>
          <p:cNvSpPr>
            <a:spLocks xmlns:a="http://schemas.openxmlformats.org/drawingml/2006/main" noGrp="1"/>
          </p:cNvSpPr>
          <p:nvPr/>
        </p:nvSpPr>
        <p:spPr>
          <a:xfrm xmlns:a="http://schemas.openxmlformats.org/drawingml/2006/main">
            <a:off x="7286625" y="2400300"/>
            <a:ext cx="57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325" b="1" i="0">
                <a:solidFill>
                  <a:srgbClr val="185D9D"/>
                </a:solidFill>
                <a:latin typeface="Helvetica Neue"/>
                <a:ea typeface="Helvetica Neue"/>
                <a:cs typeface="Helvetica Neue"/>
              </a:defRPr>
            </a:pPr>
            <a:r>
              <a:rPr sz="2325" b="1" i="0">
                <a:solidFill>
                  <a:srgbClr val="185D9D"/>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60CDE548-40DE-4AD0-B2E7-78CA09FEE4A1}"/>
              </a:ext>
            </a:extLst>
          </p:cNvPr>
          <p:cNvSpPr>
            <a:spLocks xmlns:a="http://schemas.openxmlformats.org/drawingml/2006/main" noGrp="1"/>
          </p:cNvSpPr>
          <p:nvPr/>
        </p:nvSpPr>
        <p:spPr>
          <a:xfrm xmlns:a="http://schemas.openxmlformats.org/drawingml/2006/main">
            <a:off x="6334125" y="3381375"/>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Enforce purpose,</a:t>
            </a:r>
          </a:p>
          <a:p xmlns:a="http://schemas.openxmlformats.org/drawingml/2006/main">
            <a:pPr algn="ctr">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access, and retention</a:t>
            </a:r>
          </a:p>
        </p:txBody>
      </p:sp>
      <p:sp>
        <p:nvSpPr>
          <p:cNvPr id="14" name="">
            <a:extLst xmlns:a="http://schemas.openxmlformats.org/drawingml/2006/main">
              <a:ext uri="{FF2B5EF4-FFF2-40B4-BE49-F238E27FC236}">
                <a16:creationId xmlns:a16="http://schemas.microsoft.com/office/drawing/2014/main" id="{9380D48C-FE6D-4D3F-9C82-473D5C03CD3A}"/>
              </a:ext>
            </a:extLst>
          </p:cNvPr>
          <p:cNvSpPr>
            <a:spLocks xmlns:a="http://schemas.openxmlformats.org/drawingml/2006/main" noGrp="1"/>
          </p:cNvSpPr>
          <p:nvPr/>
        </p:nvSpPr>
        <p:spPr>
          <a:xfrm xmlns:a="http://schemas.openxmlformats.org/drawingml/2006/main">
            <a:off x="10115550" y="2352675"/>
            <a:ext cx="723900" cy="723900"/>
          </a:xfrm>
          <a:prstGeom xmlns:a="http://schemas.openxmlformats.org/drawingml/2006/main" prst="ellipse">
            <a:avLst/>
          </a:prstGeom>
          <a:solidFill xmlns:a="http://schemas.openxmlformats.org/drawingml/2006/main">
            <a:srgbClr val="FFFFFF"/>
          </a:solidFill>
          <a:ln xmlns:a="http://schemas.openxmlformats.org/drawingml/2006/main" w="38100">
            <a:solidFill>
              <a:srgbClr val="3D8DFF"/>
            </a:solidFill>
            <a:prstDash val="solid"/>
          </a:ln>
        </p:spPr>
      </p:sp>
      <p:sp>
        <p:nvSpPr>
          <p:cNvPr id="15" name="">
            <a:extLst xmlns:a="http://schemas.openxmlformats.org/drawingml/2006/main">
              <a:ext uri="{FF2B5EF4-FFF2-40B4-BE49-F238E27FC236}">
                <a16:creationId xmlns:a16="http://schemas.microsoft.com/office/drawing/2014/main" id="{93EEBA2F-4F41-4673-808C-C6ECF0C740A1}"/>
              </a:ext>
            </a:extLst>
          </p:cNvPr>
          <p:cNvSpPr>
            <a:spLocks xmlns:a="http://schemas.openxmlformats.org/drawingml/2006/main" noGrp="1"/>
          </p:cNvSpPr>
          <p:nvPr/>
        </p:nvSpPr>
        <p:spPr>
          <a:xfrm xmlns:a="http://schemas.openxmlformats.org/drawingml/2006/main">
            <a:off x="10191750" y="2400300"/>
            <a:ext cx="57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325" b="1" i="0">
                <a:solidFill>
                  <a:srgbClr val="185D9D"/>
                </a:solidFill>
                <a:latin typeface="Helvetica Neue"/>
                <a:ea typeface="Helvetica Neue"/>
                <a:cs typeface="Helvetica Neue"/>
              </a:defRPr>
            </a:pPr>
            <a:r>
              <a:rPr sz="2325" b="1" i="0">
                <a:solidFill>
                  <a:srgbClr val="185D9D"/>
                </a:solidFill>
                <a:latin typeface="Helvetica Neue"/>
                <a:ea typeface="Helvetica Neue"/>
                <a:cs typeface="Helvetica Neue"/>
              </a:rPr>
              <a:t>4</a:t>
            </a:r>
          </a:p>
        </p:txBody>
      </p:sp>
      <p:sp>
        <p:nvSpPr>
          <p:cNvPr id="16" name="">
            <a:extLst xmlns:a="http://schemas.openxmlformats.org/drawingml/2006/main">
              <a:ext uri="{FF2B5EF4-FFF2-40B4-BE49-F238E27FC236}">
                <a16:creationId xmlns:a16="http://schemas.microsoft.com/office/drawing/2014/main" id="{26494D87-9361-4802-9D36-F79D269FB203}"/>
              </a:ext>
            </a:extLst>
          </p:cNvPr>
          <p:cNvSpPr>
            <a:spLocks xmlns:a="http://schemas.openxmlformats.org/drawingml/2006/main" noGrp="1"/>
          </p:cNvSpPr>
          <p:nvPr/>
        </p:nvSpPr>
        <p:spPr>
          <a:xfrm xmlns:a="http://schemas.openxmlformats.org/drawingml/2006/main">
            <a:off x="9239250" y="3381375"/>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Log governed</a:t>
            </a:r>
          </a:p>
          <a:p xmlns:a="http://schemas.openxmlformats.org/drawingml/2006/main">
            <a:pPr algn="ctr">
              <a:buNone/>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escalation</a:t>
            </a:r>
          </a:p>
        </p:txBody>
      </p:sp>
      <p:sp>
        <p:nvSpPr>
          <p:cNvPr id="17" name="">
            <a:extLst xmlns:a="http://schemas.openxmlformats.org/drawingml/2006/main">
              <a:ext uri="{FF2B5EF4-FFF2-40B4-BE49-F238E27FC236}">
                <a16:creationId xmlns:a16="http://schemas.microsoft.com/office/drawing/2014/main" id="{0274721F-4FCD-4BD4-A8BF-B5C1982FC3FA}"/>
              </a:ext>
            </a:extLst>
          </p:cNvPr>
          <p:cNvSpPr>
            <a:spLocks xmlns:a="http://schemas.openxmlformats.org/drawingml/2006/main" noGrp="1"/>
          </p:cNvSpPr>
          <p:nvPr/>
        </p:nvSpPr>
        <p:spPr>
          <a:xfrm xmlns:a="http://schemas.openxmlformats.org/drawingml/2006/main">
            <a:off x="1143000" y="5095875"/>
            <a:ext cx="9906000" cy="8763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F67935-AD99-412D-AA24-0C8F4C45CFCF}"/>
              </a:ext>
            </a:extLst>
          </p:cNvPr>
          <p:cNvSpPr>
            <a:spLocks xmlns:a="http://schemas.openxmlformats.org/drawingml/2006/main" noGrp="1"/>
          </p:cNvSpPr>
          <p:nvPr/>
        </p:nvSpPr>
        <p:spPr>
          <a:xfrm xmlns:a="http://schemas.openxmlformats.org/drawingml/2006/main">
            <a:off x="1476375" y="5305425"/>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7995"/>
          </a:bodyPr>
          <a:lstStyle xmlns:a="http://schemas.openxmlformats.org/drawingml/2006/main"/>
          <a:p xmlns:a="http://schemas.openxmlformats.org/drawingml/2006/main">
            <a:pPr algn="ctr">
              <a:buNone/>
              <a:defRPr sz="2400" b="1" i="0">
                <a:solidFill>
                  <a:srgbClr val="185D9D"/>
                </a:solidFill>
                <a:latin typeface="Helvetica Neue"/>
                <a:ea typeface="Helvetica Neue"/>
                <a:cs typeface="Helvetica Neue"/>
              </a:defRPr>
            </a:pPr>
            <a:r>
              <a:rPr sz="2400" b="1" i="0">
                <a:solidFill>
                  <a:srgbClr val="185D9D"/>
                </a:solidFill>
                <a:latin typeface="Helvetica Neue"/>
                <a:ea typeface="Helvetica Neue"/>
                <a:cs typeface="Helvetica Neue"/>
              </a:rPr>
              <a:t>Treat Provenance the same way you would treat any untrusted user data</a:t>
            </a:r>
          </a:p>
        </p:txBody>
      </p:sp>
      <p:sp>
        <p:nvSpPr>
          <p:cNvPr id="20" name="ISOPE required footer">
            <a:extLst xmlns:a="http://schemas.openxmlformats.org/drawingml/2006/main">
              <a:ext uri="{FF2B5EF4-FFF2-40B4-BE49-F238E27FC236}">
                <a16:creationId xmlns:a16="http://schemas.microsoft.com/office/drawing/2014/main" id="{DDD9BB46-341C-4E9B-A653-DD3D496EBB61}"/>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21279308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9-title">
            <a:extLst xmlns:a="http://schemas.openxmlformats.org/drawingml/2006/main">
              <a:ext uri="{FF2B5EF4-FFF2-40B4-BE49-F238E27FC236}">
                <a16:creationId xmlns:a16="http://schemas.microsoft.com/office/drawing/2014/main" id="{3FF2B793-B423-429F-B99A-B549442772B8}"/>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Selective disclosure in C2PA today</a:t>
            </a:r>
          </a:p>
        </p:txBody>
      </p:sp>
      <p:sp>
        <p:nvSpPr>
          <p:cNvPr id="2" name="">
            <a:extLst xmlns:a="http://schemas.openxmlformats.org/drawingml/2006/main">
              <a:ext uri="{FF2B5EF4-FFF2-40B4-BE49-F238E27FC236}">
                <a16:creationId xmlns:a16="http://schemas.microsoft.com/office/drawing/2014/main" id="{C23BCCC3-9713-4AB8-96A5-39C346032E5E}"/>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9-number">
            <a:extLst xmlns:a="http://schemas.openxmlformats.org/drawingml/2006/main">
              <a:ext uri="{FF2B5EF4-FFF2-40B4-BE49-F238E27FC236}">
                <a16:creationId xmlns:a16="http://schemas.microsoft.com/office/drawing/2014/main" id="{D3D12977-73E7-4BB6-AD93-A7ECDB421A13}"/>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F8339C4F-797C-4DDC-B248-9E7A84A3B2D0}"/>
              </a:ext>
            </a:extLst>
          </p:cNvPr>
          <p:cNvSpPr>
            <a:spLocks xmlns:a="http://schemas.openxmlformats.org/drawingml/2006/main" noGrp="1"/>
          </p:cNvSpPr>
          <p:nvPr/>
        </p:nvSpPr>
        <p:spPr>
          <a:xfrm xmlns:a="http://schemas.openxmlformats.org/drawingml/2006/main">
            <a:off x="390525" y="133350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684"/>
          </a:bodyPr>
          <a:lstStyle xmlns:a="http://schemas.openxmlformats.org/drawingml/2006/main"/>
          <a:p xmlns:a="http://schemas.openxmlformats.org/drawingml/2006/main">
            <a:pPr algn="l">
              <a:buNone/>
              <a:defRPr sz="1650" b="0" i="0">
                <a:solidFill>
                  <a:srgbClr val="555D69"/>
                </a:solidFill>
                <a:latin typeface="Helvetica Neue"/>
                <a:ea typeface="Helvetica Neue"/>
                <a:cs typeface="Helvetica Neue"/>
              </a:defRPr>
            </a:pPr>
            <a:r>
              <a:rPr sz="1650" b="0" i="0">
                <a:solidFill>
                  <a:srgbClr val="555D69"/>
                </a:solidFill>
                <a:latin typeface="Helvetica Neue"/>
                <a:ea typeface="Helvetica Neue"/>
                <a:cs typeface="Helvetica Neue"/>
              </a:rPr>
              <a:t>Current mechanisms reduce exposure, but selective disclosure policies need more clarity.</a:t>
            </a:r>
          </a:p>
        </p:txBody>
      </p:sp>
      <p:sp>
        <p:nvSpPr>
          <p:cNvPr id="6" name="">
            <a:extLst xmlns:a="http://schemas.openxmlformats.org/drawingml/2006/main">
              <a:ext uri="{FF2B5EF4-FFF2-40B4-BE49-F238E27FC236}">
                <a16:creationId xmlns:a16="http://schemas.microsoft.com/office/drawing/2014/main" id="{72B6975C-F679-42BD-BCFA-E1710ADA14B3}"/>
              </a:ext>
            </a:extLst>
          </p:cNvPr>
          <p:cNvSpPr>
            <a:spLocks xmlns:a="http://schemas.openxmlformats.org/drawingml/2006/main" noGrp="1"/>
          </p:cNvSpPr>
          <p:nvPr/>
        </p:nvSpPr>
        <p:spPr>
          <a:xfrm xmlns:a="http://schemas.openxmlformats.org/drawingml/2006/main">
            <a:off x="1524000" y="1952625"/>
            <a:ext cx="9144000" cy="4048125"/>
          </a:xfrm>
          <a:prstGeom xmlns:a="http://schemas.openxmlformats.org/drawingml/2006/main" prst="rect">
            <a:avLst/>
          </a:prstGeom>
          <a:solidFill xmlns:a="http://schemas.openxmlformats.org/drawingml/2006/main">
            <a:srgbClr val="FFFFFF"/>
          </a:solidFill>
          <a:ln xmlns:a="http://schemas.openxmlformats.org/drawingml/2006/main" w="9525">
            <a:solidFill>
              <a:srgbClr val="BBC3CC"/>
            </a:solidFill>
            <a:prstDash val="solid"/>
          </a:ln>
        </p:spPr>
      </p:sp>
      <p:sp>
        <p:nvSpPr>
          <p:cNvPr id="7" name="">
            <a:extLst xmlns:a="http://schemas.openxmlformats.org/drawingml/2006/main">
              <a:ext uri="{FF2B5EF4-FFF2-40B4-BE49-F238E27FC236}">
                <a16:creationId xmlns:a16="http://schemas.microsoft.com/office/drawing/2014/main" id="{A1A0F8E1-B577-4B58-BAE5-D59EBEFBB728}"/>
              </a:ext>
            </a:extLst>
          </p:cNvPr>
          <p:cNvSpPr>
            <a:spLocks xmlns:a="http://schemas.openxmlformats.org/drawingml/2006/main" noGrp="1"/>
          </p:cNvSpPr>
          <p:nvPr/>
        </p:nvSpPr>
        <p:spPr>
          <a:xfrm xmlns:a="http://schemas.openxmlformats.org/drawingml/2006/main">
            <a:off x="1524000" y="1952625"/>
            <a:ext cx="9144000" cy="133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2B8DD8D-567E-4BFE-9DC1-FA629B6AAA92}"/>
              </a:ext>
            </a:extLst>
          </p:cNvPr>
          <p:cNvSpPr>
            <a:spLocks xmlns:a="http://schemas.openxmlformats.org/drawingml/2006/main" noGrp="1"/>
          </p:cNvSpPr>
          <p:nvPr/>
        </p:nvSpPr>
        <p:spPr>
          <a:xfrm xmlns:a="http://schemas.openxmlformats.org/drawingml/2006/main">
            <a:off x="1905000" y="22860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PRIVACY MECHANISMS</a:t>
            </a:r>
          </a:p>
        </p:txBody>
      </p:sp>
      <p:sp>
        <p:nvSpPr>
          <p:cNvPr id="10" name="">
            <a:extLst xmlns:a="http://schemas.openxmlformats.org/drawingml/2006/main">
              <a:ext uri="{FF2B5EF4-FFF2-40B4-BE49-F238E27FC236}">
                <a16:creationId xmlns:a16="http://schemas.microsoft.com/office/drawing/2014/main" id="{0F4DD502-C219-499C-9ACF-2A830D643B64}"/>
              </a:ext>
            </a:extLst>
          </p:cNvPr>
          <p:cNvSpPr>
            <a:spLocks xmlns:a="http://schemas.openxmlformats.org/drawingml/2006/main" noGrp="1"/>
          </p:cNvSpPr>
          <p:nvPr/>
        </p:nvSpPr>
        <p:spPr>
          <a:xfrm xmlns:a="http://schemas.openxmlformats.org/drawingml/2006/main">
            <a:off x="1905000" y="2781300"/>
            <a:ext cx="838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79400" indent="-139700">
              <a:spcAft>
                <a:spcPts val="700"/>
              </a:spcAft>
              <a:buChar char="•"/>
              <a:defRPr sz="1800">
                <a:solidFill>
                  <a:srgbClr val="111318"/>
                </a:solidFill>
                <a:latin typeface="Helvetica Neue"/>
                <a:ea typeface="Helvetica Neue"/>
                <a:cs typeface="Helvetica Neue"/>
              </a:defRPr>
            </a:pPr>
            <a:r>
              <a:rPr sz="1800">
                <a:solidFill>
                  <a:srgbClr val="111318"/>
                </a:solidFill>
                <a:latin typeface="Helvetica Neue"/>
                <a:ea typeface="Helvetica Neue"/>
                <a:cs typeface="Helvetica Neue"/>
              </a:rPr>
              <a:t>Omit optional assertions at creation</a:t>
            </a:r>
          </a:p>
          <a:p xmlns:a="http://schemas.openxmlformats.org/drawingml/2006/main">
            <a:pPr marL="279400" indent="-139700">
              <a:spcAft>
                <a:spcPts val="700"/>
              </a:spcAft>
              <a:buChar char="•"/>
              <a:defRPr sz="1800">
                <a:solidFill>
                  <a:srgbClr val="111318"/>
                </a:solidFill>
                <a:latin typeface="Helvetica Neue"/>
                <a:ea typeface="Helvetica Neue"/>
                <a:cs typeface="Helvetica Neue"/>
              </a:defRPr>
            </a:pPr>
            <a:r>
              <a:rPr sz="1800">
                <a:solidFill>
                  <a:srgbClr val="111318"/>
                </a:solidFill>
                <a:latin typeface="Helvetica Neue"/>
                <a:ea typeface="Helvetica Neue"/>
                <a:cs typeface="Helvetica Neue"/>
              </a:rPr>
              <a:t>Keep richer optional assertions remote and govern repository access</a:t>
            </a:r>
          </a:p>
          <a:p xmlns:a="http://schemas.openxmlformats.org/drawingml/2006/main">
            <a:pPr marL="279400" indent="-139700">
              <a:spcAft>
                <a:spcPts val="700"/>
              </a:spcAft>
              <a:buChar char="•"/>
              <a:defRPr sz="1800">
                <a:solidFill>
                  <a:srgbClr val="111318"/>
                </a:solidFill>
                <a:latin typeface="Helvetica Neue"/>
                <a:ea typeface="Helvetica Neue"/>
                <a:cs typeface="Helvetica Neue"/>
              </a:defRPr>
            </a:pPr>
            <a:r>
              <a:rPr sz="1800">
                <a:solidFill>
                  <a:srgbClr val="111318"/>
                </a:solidFill>
                <a:latin typeface="Helvetica Neue"/>
                <a:ea typeface="Helvetica Neue"/>
                <a:cs typeface="Helvetica Neue"/>
              </a:rPr>
              <a:t>Use custom encrypted assertions for known recipients</a:t>
            </a:r>
          </a:p>
          <a:p xmlns:a="http://schemas.openxmlformats.org/drawingml/2006/main">
            <a:pPr marL="279400" indent="-139700">
              <a:spcAft>
                <a:spcPts val="700"/>
              </a:spcAft>
              <a:buChar char="•"/>
              <a:defRPr sz="1800">
                <a:solidFill>
                  <a:srgbClr val="111318"/>
                </a:solidFill>
                <a:latin typeface="Helvetica Neue"/>
                <a:ea typeface="Helvetica Neue"/>
                <a:cs typeface="Helvetica Neue"/>
              </a:defRPr>
            </a:pPr>
            <a:r>
              <a:rPr sz="1800">
                <a:solidFill>
                  <a:srgbClr val="111318"/>
                </a:solidFill>
                <a:latin typeface="Helvetica Neue"/>
                <a:ea typeface="Helvetica Neue"/>
                <a:cs typeface="Helvetica Neue"/>
              </a:rPr>
              <a:t>Redact or replace metadata through an update manifest</a:t>
            </a:r>
          </a:p>
          <a:p xmlns:a="http://schemas.openxmlformats.org/drawingml/2006/main">
            <a:pPr marL="279400" indent="-139700">
              <a:spcAft>
                <a:spcPts val="700"/>
              </a:spcAft>
              <a:buChar char="•"/>
              <a:defRPr sz="1800">
                <a:solidFill>
                  <a:srgbClr val="111318"/>
                </a:solidFill>
                <a:latin typeface="Helvetica Neue"/>
                <a:ea typeface="Helvetica Neue"/>
                <a:cs typeface="Helvetica Neue"/>
              </a:defRPr>
            </a:pPr>
            <a:r>
              <a:rPr sz="1800">
                <a:solidFill>
                  <a:srgbClr val="111318"/>
                </a:solidFill>
                <a:latin typeface="Helvetica Neue"/>
                <a:ea typeface="Helvetica Neue"/>
                <a:cs typeface="Helvetica Neue"/>
              </a:rPr>
              <a:t>Sign a new manifest that attests to the original and carries no PII</a:t>
            </a:r>
          </a:p>
        </p:txBody>
      </p:sp>
      <p:sp>
        <p:nvSpPr>
          <p:cNvPr id="23" name="ISOPE required footer">
            <a:extLst xmlns:a="http://schemas.openxmlformats.org/drawingml/2006/main">
              <a:ext uri="{FF2B5EF4-FFF2-40B4-BE49-F238E27FC236}">
                <a16:creationId xmlns:a16="http://schemas.microsoft.com/office/drawing/2014/main" id="{E4B26412-7538-4E10-92D2-ACDA0B152CD9}"/>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
        <p:nvSpPr>
          <p:cNvPr id="24" name="">
            <a:extLst xmlns:a="http://schemas.openxmlformats.org/drawingml/2006/main">
              <a:ext uri="{FF2B5EF4-FFF2-40B4-BE49-F238E27FC236}">
                <a16:creationId xmlns:a16="http://schemas.microsoft.com/office/drawing/2014/main" id="{285E08EE-62CA-49E6-A002-AAA55CF70D3A}"/>
              </a:ext>
            </a:extLst>
          </p:cNvPr>
          <p:cNvSpPr>
            <a:spLocks xmlns:a="http://schemas.openxmlformats.org/drawingml/2006/main" noGrp="1"/>
          </p:cNvSpPr>
          <p:nvPr/>
        </p:nvSpPr>
        <p:spPr>
          <a:xfrm xmlns:a="http://schemas.openxmlformats.org/drawingml/2006/main">
            <a:off x="1905000" y="4953000"/>
            <a:ext cx="838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a:defRPr sz="1125">
                <a:solidFill>
                  <a:srgbClr val="555D69"/>
                </a:solidFill>
                <a:latin typeface="Helvetica Neue"/>
                <a:ea typeface="Helvetica Neue"/>
                <a:cs typeface="Helvetica Neue"/>
              </a:defRPr>
            </a:pPr>
            <a:r>
              <a:rPr>
                <a:solidFill>
                  <a:srgbClr val="555D69"/>
                </a:solidFill>
              </a:rPr>
              <a:t>Open-source examples: </a:t>
            </a:r>
            <a:r>
              <a:rPr u="sng">
                <a:solidFill>
                  <a:srgbClr val="185D9D"/>
                </a:solidFill>
                <a:hlinkClick xmlns:r="http://schemas.openxmlformats.org/officeDocument/2006/relationships" r:id="Rd224cc8e922b4d8e"/>
              </a:rPr>
              <a:t>redaction and replacement</a:t>
            </a:r>
            <a:r>
              <a:rPr>
                <a:solidFill>
                  <a:srgbClr val="555D69"/>
                </a:solidFill>
              </a:rPr>
              <a:t> and </a:t>
            </a:r>
            <a:r>
              <a:rPr u="sng">
                <a:solidFill>
                  <a:srgbClr val="185D9D"/>
                </a:solidFill>
                <a:hlinkClick xmlns:r="http://schemas.openxmlformats.org/officeDocument/2006/relationships" r:id="R7948cea1c2794ac7"/>
              </a:rPr>
              <a:t>remote assertions</a:t>
            </a:r>
          </a:p>
          <a:p xmlns:a="http://schemas.openxmlformats.org/drawingml/2006/main">
            <a:pPr>
              <a:defRPr sz="1125">
                <a:solidFill>
                  <a:srgbClr val="555D69"/>
                </a:solidFill>
                <a:latin typeface="Helvetica Neue"/>
                <a:ea typeface="Helvetica Neue"/>
                <a:cs typeface="Helvetica Neue"/>
              </a:defRPr>
            </a:pPr>
            <a:r>
              <a:rPr>
                <a:solidFill>
                  <a:srgbClr val="555D69"/>
                </a:solidFill>
              </a:rPr>
              <a:t>Specification guidance: </a:t>
            </a:r>
            <a:r>
              <a:rPr u="sng">
                <a:solidFill>
                  <a:srgbClr val="185D9D"/>
                </a:solidFill>
                <a:hlinkClick xmlns:r="http://schemas.openxmlformats.org/officeDocument/2006/relationships" r:id="R800aaa0ecfb94113"/>
              </a:rPr>
              <a:t>encrypted assertions</a:t>
            </a:r>
          </a:p>
        </p:txBody>
      </p:sp>
    </p:spTree>
    <p:extLst>
      <p:ext uri="{BB962C8B-B14F-4D97-AF65-F5344CB8AC3E}">
        <p14:creationId xmlns:p14="http://schemas.microsoft.com/office/powerpoint/2010/main" val="350361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9-title">
            <a:extLst xmlns:a="http://schemas.openxmlformats.org/drawingml/2006/main">
              <a:ext uri="{FF2B5EF4-FFF2-40B4-BE49-F238E27FC236}">
                <a16:creationId xmlns:a16="http://schemas.microsoft.com/office/drawing/2014/main" id="{3FF2B793-B423-429F-B99A-B549442772B8}"/>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Journalism: private verification, public attestation</a:t>
            </a:r>
          </a:p>
        </p:txBody>
      </p:sp>
      <p:sp>
        <p:nvSpPr>
          <p:cNvPr id="2" name="">
            <a:extLst xmlns:a="http://schemas.openxmlformats.org/drawingml/2006/main">
              <a:ext uri="{FF2B5EF4-FFF2-40B4-BE49-F238E27FC236}">
                <a16:creationId xmlns:a16="http://schemas.microsoft.com/office/drawing/2014/main" id="{C23BCCC3-9713-4AB8-96A5-39C346032E5E}"/>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9-number">
            <a:extLst xmlns:a="http://schemas.openxmlformats.org/drawingml/2006/main">
              <a:ext uri="{FF2B5EF4-FFF2-40B4-BE49-F238E27FC236}">
                <a16:creationId xmlns:a16="http://schemas.microsoft.com/office/drawing/2014/main" id="{D3D12977-73E7-4BB6-AD93-A7ECDB421A13}"/>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8339C4F-797C-4DDC-B248-9E7A84A3B2D0}"/>
              </a:ext>
            </a:extLst>
          </p:cNvPr>
          <p:cNvSpPr>
            <a:spLocks xmlns:a="http://schemas.openxmlformats.org/drawingml/2006/main" noGrp="1"/>
          </p:cNvSpPr>
          <p:nvPr/>
        </p:nvSpPr>
        <p:spPr>
          <a:xfrm xmlns:a="http://schemas.openxmlformats.org/drawingml/2006/main">
            <a:off x="390525" y="133350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555D69"/>
                </a:solidFill>
                <a:latin typeface="Helvetica Neue"/>
                <a:ea typeface="Helvetica Neue"/>
                <a:cs typeface="Helvetica Neue"/>
              </a:defRPr>
            </a:pPr>
            <a:r>
              <a:rPr sz="1650" b="0" i="0">
                <a:solidFill>
                  <a:srgbClr val="555D69"/>
                </a:solidFill>
                <a:latin typeface="Helvetica Neue"/>
                <a:ea typeface="Helvetica Neue"/>
                <a:cs typeface="Helvetica Neue"/>
              </a:rPr>
              <a:t>The public receives the newsroom's signed conclusion, not the source's metadata.</a:t>
            </a:r>
          </a:p>
        </p:txBody>
      </p:sp>
      <p:sp>
        <p:nvSpPr>
          <p:cNvPr id="5" name="">
            <a:extLst xmlns:a="http://schemas.openxmlformats.org/drawingml/2006/main">
              <a:ext uri="{FF2B5EF4-FFF2-40B4-BE49-F238E27FC236}">
                <a16:creationId xmlns:a16="http://schemas.microsoft.com/office/drawing/2014/main" id="{A37869E1-9B9D-4D96-8850-B7EFA1056883}"/>
              </a:ext>
            </a:extLst>
          </p:cNvPr>
          <p:cNvSpPr>
            <a:spLocks xmlns:a="http://schemas.openxmlformats.org/drawingml/2006/main" noGrp="1"/>
          </p:cNvSpPr>
          <p:nvPr/>
        </p:nvSpPr>
        <p:spPr>
          <a:xfrm xmlns:a="http://schemas.openxmlformats.org/drawingml/2006/main">
            <a:off x="1571625" y="3095625"/>
            <a:ext cx="9048750" cy="953"/>
          </a:xfrm>
          <a:prstGeom xmlns:a="http://schemas.openxmlformats.org/drawingml/2006/main" prst="line">
            <a:avLst/>
          </a:prstGeom>
          <a:noFill xmlns:a="http://schemas.openxmlformats.org/drawingml/2006/main"/>
          <a:ln xmlns:a="http://schemas.openxmlformats.org/drawingml/2006/main" w="38100">
            <a:solidFill>
              <a:srgbClr val="BBC3CC"/>
            </a:solidFill>
            <a:prstDash val="solid"/>
          </a:ln>
        </p:spPr>
      </p:sp>
      <p:sp>
        <p:nvSpPr>
          <p:cNvPr id="6" name="">
            <a:extLst xmlns:a="http://schemas.openxmlformats.org/drawingml/2006/main">
              <a:ext uri="{FF2B5EF4-FFF2-40B4-BE49-F238E27FC236}">
                <a16:creationId xmlns:a16="http://schemas.microsoft.com/office/drawing/2014/main" id="{72B6975C-F679-42BD-BCFA-E1710ADA14B3}"/>
              </a:ext>
            </a:extLst>
          </p:cNvPr>
          <p:cNvSpPr>
            <a:spLocks xmlns:a="http://schemas.openxmlformats.org/drawingml/2006/main" noGrp="1"/>
          </p:cNvSpPr>
          <p:nvPr/>
        </p:nvSpPr>
        <p:spPr>
          <a:xfrm xmlns:a="http://schemas.openxmlformats.org/drawingml/2006/main">
            <a:off x="476250" y="2095500"/>
            <a:ext cx="3524250" cy="2619375"/>
          </a:xfrm>
          <a:prstGeom xmlns:a="http://schemas.openxmlformats.org/drawingml/2006/main" prst="rect">
            <a:avLst/>
          </a:prstGeom>
          <a:solidFill xmlns:a="http://schemas.openxmlformats.org/drawingml/2006/main">
            <a:srgbClr val="FFFFFF"/>
          </a:solidFill>
          <a:ln xmlns:a="http://schemas.openxmlformats.org/drawingml/2006/main" w="9525">
            <a:solidFill>
              <a:srgbClr val="BBC3CC"/>
            </a:solidFill>
            <a:prstDash val="solid"/>
          </a:ln>
        </p:spPr>
      </p:sp>
      <p:sp>
        <p:nvSpPr>
          <p:cNvPr id="7" name="">
            <a:extLst xmlns:a="http://schemas.openxmlformats.org/drawingml/2006/main">
              <a:ext uri="{FF2B5EF4-FFF2-40B4-BE49-F238E27FC236}">
                <a16:creationId xmlns:a16="http://schemas.microsoft.com/office/drawing/2014/main" id="{A1A0F8E1-B577-4B58-BAE5-D59EBEFBB728}"/>
              </a:ext>
            </a:extLst>
          </p:cNvPr>
          <p:cNvSpPr>
            <a:spLocks xmlns:a="http://schemas.openxmlformats.org/drawingml/2006/main" noGrp="1"/>
          </p:cNvSpPr>
          <p:nvPr/>
        </p:nvSpPr>
        <p:spPr>
          <a:xfrm xmlns:a="http://schemas.openxmlformats.org/drawingml/2006/main">
            <a:off x="476250" y="2095500"/>
            <a:ext cx="3524250" cy="133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2B8DD8D-567E-4BFE-9DC1-FA629B6AAA92}"/>
              </a:ext>
            </a:extLst>
          </p:cNvPr>
          <p:cNvSpPr>
            <a:spLocks xmlns:a="http://schemas.openxmlformats.org/drawingml/2006/main" noGrp="1"/>
          </p:cNvSpPr>
          <p:nvPr/>
        </p:nvSpPr>
        <p:spPr>
          <a:xfrm xmlns:a="http://schemas.openxmlformats.org/drawingml/2006/main">
            <a:off x="704850" y="24765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PRIVATE INTAKE</a:t>
            </a:r>
          </a:p>
        </p:txBody>
      </p:sp>
      <p:sp>
        <p:nvSpPr>
          <p:cNvPr id="9" name="">
            <a:extLst xmlns:a="http://schemas.openxmlformats.org/drawingml/2006/main">
              <a:ext uri="{FF2B5EF4-FFF2-40B4-BE49-F238E27FC236}">
                <a16:creationId xmlns:a16="http://schemas.microsoft.com/office/drawing/2014/main" id="{755755C0-CE7A-48D4-AD75-DE1E9FC6D807}"/>
              </a:ext>
            </a:extLst>
          </p:cNvPr>
          <p:cNvSpPr>
            <a:spLocks xmlns:a="http://schemas.openxmlformats.org/drawingml/2006/main" noGrp="1"/>
          </p:cNvSpPr>
          <p:nvPr/>
        </p:nvSpPr>
        <p:spPr>
          <a:xfrm xmlns:a="http://schemas.openxmlformats.org/drawingml/2006/main">
            <a:off x="704850" y="29337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318"/>
                </a:solidFill>
                <a:latin typeface="Helvetica Neue"/>
                <a:ea typeface="Helvetica Neue"/>
                <a:cs typeface="Helvetica Neue"/>
              </a:defRPr>
            </a:pPr>
            <a:r>
              <a:rPr sz="2100" b="1" i="0">
                <a:solidFill>
                  <a:srgbClr val="111318"/>
                </a:solidFill>
                <a:latin typeface="Helvetica Neue"/>
                <a:ea typeface="Helvetica Neue"/>
                <a:cs typeface="Helvetica Neue"/>
              </a:rPr>
              <a:t>Tier 3: restricted</a:t>
            </a:r>
          </a:p>
        </p:txBody>
      </p:sp>
      <p:sp>
        <p:nvSpPr>
          <p:cNvPr id="10" name="">
            <a:extLst xmlns:a="http://schemas.openxmlformats.org/drawingml/2006/main">
              <a:ext uri="{FF2B5EF4-FFF2-40B4-BE49-F238E27FC236}">
                <a16:creationId xmlns:a16="http://schemas.microsoft.com/office/drawing/2014/main" id="{0F4DD502-C219-499C-9ACF-2A830D643B64}"/>
              </a:ext>
            </a:extLst>
          </p:cNvPr>
          <p:cNvSpPr>
            <a:spLocks xmlns:a="http://schemas.openxmlformats.org/drawingml/2006/main" noGrp="1"/>
          </p:cNvSpPr>
          <p:nvPr/>
        </p:nvSpPr>
        <p:spPr>
          <a:xfrm xmlns:a="http://schemas.openxmlformats.org/drawingml/2006/main">
            <a:off x="704850" y="3571875"/>
            <a:ext cx="3067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55D69"/>
                </a:solidFill>
                <a:latin typeface="Helvetica Neue"/>
                <a:ea typeface="Helvetica Neue"/>
                <a:cs typeface="Helvetica Neue"/>
              </a:defRPr>
            </a:pPr>
            <a:r>
              <a:rPr sz="1575" b="0" i="0">
                <a:solidFill>
                  <a:srgbClr val="555D69"/>
                </a:solidFill>
                <a:latin typeface="Helvetica Neue"/>
                <a:ea typeface="Helvetica Neue"/>
                <a:cs typeface="Helvetica Neue"/>
              </a:rPr>
              <a:t>Validate the richer chain privately when source authentication requires it.</a:t>
            </a:r>
          </a:p>
        </p:txBody>
      </p:sp>
      <p:sp>
        <p:nvSpPr>
          <p:cNvPr id="11" name="">
            <a:extLst xmlns:a="http://schemas.openxmlformats.org/drawingml/2006/main">
              <a:ext uri="{FF2B5EF4-FFF2-40B4-BE49-F238E27FC236}">
                <a16:creationId xmlns:a16="http://schemas.microsoft.com/office/drawing/2014/main" id="{74ACFAA6-83B9-46D5-888A-C900DFA43509}"/>
              </a:ext>
            </a:extLst>
          </p:cNvPr>
          <p:cNvSpPr>
            <a:spLocks xmlns:a="http://schemas.openxmlformats.org/drawingml/2006/main" noGrp="1"/>
          </p:cNvSpPr>
          <p:nvPr/>
        </p:nvSpPr>
        <p:spPr>
          <a:xfrm xmlns:a="http://schemas.openxmlformats.org/drawingml/2006/main">
            <a:off x="4333875" y="2095500"/>
            <a:ext cx="3524250" cy="2619375"/>
          </a:xfrm>
          <a:prstGeom xmlns:a="http://schemas.openxmlformats.org/drawingml/2006/main" prst="rect">
            <a:avLst/>
          </a:prstGeom>
          <a:solidFill xmlns:a="http://schemas.openxmlformats.org/drawingml/2006/main">
            <a:srgbClr val="FFFFFF"/>
          </a:solidFill>
          <a:ln xmlns:a="http://schemas.openxmlformats.org/drawingml/2006/main" w="9525">
            <a:solidFill>
              <a:srgbClr val="BBC3CC"/>
            </a:solidFill>
            <a:prstDash val="solid"/>
          </a:ln>
        </p:spPr>
      </p:sp>
      <p:sp>
        <p:nvSpPr>
          <p:cNvPr id="12" name="">
            <a:extLst xmlns:a="http://schemas.openxmlformats.org/drawingml/2006/main">
              <a:ext uri="{FF2B5EF4-FFF2-40B4-BE49-F238E27FC236}">
                <a16:creationId xmlns:a16="http://schemas.microsoft.com/office/drawing/2014/main" id="{8A9F5BC5-A829-41EC-83A9-83E9EBE96093}"/>
              </a:ext>
            </a:extLst>
          </p:cNvPr>
          <p:cNvSpPr>
            <a:spLocks xmlns:a="http://schemas.openxmlformats.org/drawingml/2006/main" noGrp="1"/>
          </p:cNvSpPr>
          <p:nvPr/>
        </p:nvSpPr>
        <p:spPr>
          <a:xfrm xmlns:a="http://schemas.openxmlformats.org/drawingml/2006/main">
            <a:off x="4333875" y="2095500"/>
            <a:ext cx="3524250" cy="133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F6F504-48B2-42CF-AA31-D26483DD8BCA}"/>
              </a:ext>
            </a:extLst>
          </p:cNvPr>
          <p:cNvSpPr>
            <a:spLocks xmlns:a="http://schemas.openxmlformats.org/drawingml/2006/main" noGrp="1"/>
          </p:cNvSpPr>
          <p:nvPr/>
        </p:nvSpPr>
        <p:spPr>
          <a:xfrm xmlns:a="http://schemas.openxmlformats.org/drawingml/2006/main">
            <a:off x="4562475" y="24765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EDITORIAL DECISION</a:t>
            </a:r>
          </a:p>
        </p:txBody>
      </p:sp>
      <p:sp>
        <p:nvSpPr>
          <p:cNvPr id="14" name="">
            <a:extLst xmlns:a="http://schemas.openxmlformats.org/drawingml/2006/main">
              <a:ext uri="{FF2B5EF4-FFF2-40B4-BE49-F238E27FC236}">
                <a16:creationId xmlns:a16="http://schemas.microsoft.com/office/drawing/2014/main" id="{F91AEA35-1C3F-40BE-A917-27148CF4111F}"/>
              </a:ext>
            </a:extLst>
          </p:cNvPr>
          <p:cNvSpPr>
            <a:spLocks xmlns:a="http://schemas.openxmlformats.org/drawingml/2006/main" noGrp="1"/>
          </p:cNvSpPr>
          <p:nvPr/>
        </p:nvSpPr>
        <p:spPr>
          <a:xfrm xmlns:a="http://schemas.openxmlformats.org/drawingml/2006/main">
            <a:off x="4562475" y="29337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318"/>
                </a:solidFill>
                <a:latin typeface="Helvetica Neue"/>
                <a:ea typeface="Helvetica Neue"/>
                <a:cs typeface="Helvetica Neue"/>
              </a:defRPr>
            </a:pPr>
            <a:r>
              <a:rPr sz="2100" b="1" i="0">
                <a:solidFill>
                  <a:srgbClr val="111318"/>
                </a:solidFill>
                <a:latin typeface="Helvetica Neue"/>
                <a:ea typeface="Helvetica Neue"/>
                <a:cs typeface="Helvetica Neue"/>
              </a:rPr>
              <a:t>Derived attestation</a:t>
            </a:r>
          </a:p>
        </p:txBody>
      </p:sp>
      <p:sp>
        <p:nvSpPr>
          <p:cNvPr id="15" name="">
            <a:extLst xmlns:a="http://schemas.openxmlformats.org/drawingml/2006/main">
              <a:ext uri="{FF2B5EF4-FFF2-40B4-BE49-F238E27FC236}">
                <a16:creationId xmlns:a16="http://schemas.microsoft.com/office/drawing/2014/main" id="{A61F9F1D-1326-4C09-869E-4AD1B6D1FA73}"/>
              </a:ext>
            </a:extLst>
          </p:cNvPr>
          <p:cNvSpPr>
            <a:spLocks xmlns:a="http://schemas.openxmlformats.org/drawingml/2006/main" noGrp="1"/>
          </p:cNvSpPr>
          <p:nvPr/>
        </p:nvSpPr>
        <p:spPr>
          <a:xfrm xmlns:a="http://schemas.openxmlformats.org/drawingml/2006/main">
            <a:off x="4562475" y="3571875"/>
            <a:ext cx="3067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55D69"/>
                </a:solidFill>
                <a:latin typeface="Helvetica Neue"/>
                <a:ea typeface="Helvetica Neue"/>
                <a:cs typeface="Helvetica Neue"/>
              </a:defRPr>
            </a:pPr>
            <a:r>
              <a:rPr sz="1575" b="0" i="0">
                <a:solidFill>
                  <a:srgbClr val="555D69"/>
                </a:solidFill>
                <a:latin typeface="Helvetica Neue"/>
                <a:ea typeface="Helvetica Neue"/>
                <a:cs typeface="Helvetica Neue"/>
              </a:rPr>
              <a:t>Sign a narrower judgment: source verified, routine edit, no material generative alteration.</a:t>
            </a:r>
          </a:p>
        </p:txBody>
      </p:sp>
      <p:sp>
        <p:nvSpPr>
          <p:cNvPr id="16" name="">
            <a:extLst xmlns:a="http://schemas.openxmlformats.org/drawingml/2006/main">
              <a:ext uri="{FF2B5EF4-FFF2-40B4-BE49-F238E27FC236}">
                <a16:creationId xmlns:a16="http://schemas.microsoft.com/office/drawing/2014/main" id="{F8AB33F1-E5DA-4286-B1F7-9457F44C619C}"/>
              </a:ext>
            </a:extLst>
          </p:cNvPr>
          <p:cNvSpPr>
            <a:spLocks xmlns:a="http://schemas.openxmlformats.org/drawingml/2006/main" noGrp="1"/>
          </p:cNvSpPr>
          <p:nvPr/>
        </p:nvSpPr>
        <p:spPr>
          <a:xfrm xmlns:a="http://schemas.openxmlformats.org/drawingml/2006/main">
            <a:off x="8191500" y="2095500"/>
            <a:ext cx="3524250" cy="2619375"/>
          </a:xfrm>
          <a:prstGeom xmlns:a="http://schemas.openxmlformats.org/drawingml/2006/main" prst="rect">
            <a:avLst/>
          </a:prstGeom>
          <a:solidFill xmlns:a="http://schemas.openxmlformats.org/drawingml/2006/main">
            <a:srgbClr val="FFFFFF"/>
          </a:solidFill>
          <a:ln xmlns:a="http://schemas.openxmlformats.org/drawingml/2006/main" w="9525">
            <a:solidFill>
              <a:srgbClr val="BBC3CC"/>
            </a:solidFill>
            <a:prstDash val="solid"/>
          </a:ln>
        </p:spPr>
      </p:sp>
      <p:sp>
        <p:nvSpPr>
          <p:cNvPr id="17" name="">
            <a:extLst xmlns:a="http://schemas.openxmlformats.org/drawingml/2006/main">
              <a:ext uri="{FF2B5EF4-FFF2-40B4-BE49-F238E27FC236}">
                <a16:creationId xmlns:a16="http://schemas.microsoft.com/office/drawing/2014/main" id="{84C2F7AC-C03A-4132-BFE3-0C2643B22C23}"/>
              </a:ext>
            </a:extLst>
          </p:cNvPr>
          <p:cNvSpPr>
            <a:spLocks xmlns:a="http://schemas.openxmlformats.org/drawingml/2006/main" noGrp="1"/>
          </p:cNvSpPr>
          <p:nvPr/>
        </p:nvSpPr>
        <p:spPr>
          <a:xfrm xmlns:a="http://schemas.openxmlformats.org/drawingml/2006/main">
            <a:off x="8191500" y="2095500"/>
            <a:ext cx="3524250" cy="133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A9D2600-24F0-4E68-8F9E-3D86255CE30A}"/>
              </a:ext>
            </a:extLst>
          </p:cNvPr>
          <p:cNvSpPr>
            <a:spLocks xmlns:a="http://schemas.openxmlformats.org/drawingml/2006/main" noGrp="1"/>
          </p:cNvSpPr>
          <p:nvPr/>
        </p:nvSpPr>
        <p:spPr>
          <a:xfrm xmlns:a="http://schemas.openxmlformats.org/drawingml/2006/main">
            <a:off x="8420100" y="24765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PUBLICATION</a:t>
            </a:r>
          </a:p>
        </p:txBody>
      </p:sp>
      <p:sp>
        <p:nvSpPr>
          <p:cNvPr id="19" name="">
            <a:extLst xmlns:a="http://schemas.openxmlformats.org/drawingml/2006/main">
              <a:ext uri="{FF2B5EF4-FFF2-40B4-BE49-F238E27FC236}">
                <a16:creationId xmlns:a16="http://schemas.microsoft.com/office/drawing/2014/main" id="{9EC54F62-6059-4CB0-9B4D-7A5E637856C1}"/>
              </a:ext>
            </a:extLst>
          </p:cNvPr>
          <p:cNvSpPr>
            <a:spLocks xmlns:a="http://schemas.openxmlformats.org/drawingml/2006/main" noGrp="1"/>
          </p:cNvSpPr>
          <p:nvPr/>
        </p:nvSpPr>
        <p:spPr>
          <a:xfrm xmlns:a="http://schemas.openxmlformats.org/drawingml/2006/main">
            <a:off x="8420100" y="29337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318"/>
                </a:solidFill>
                <a:latin typeface="Helvetica Neue"/>
                <a:ea typeface="Helvetica Neue"/>
                <a:cs typeface="Helvetica Neue"/>
              </a:defRPr>
            </a:pPr>
            <a:r>
              <a:rPr sz="2100" b="1" i="0">
                <a:solidFill>
                  <a:srgbClr val="111318"/>
                </a:solidFill>
                <a:latin typeface="Helvetica Neue"/>
                <a:ea typeface="Helvetica Neue"/>
                <a:cs typeface="Helvetica Neue"/>
              </a:rPr>
              <a:t>Tier 1: public context</a:t>
            </a:r>
          </a:p>
        </p:txBody>
      </p:sp>
      <p:sp>
        <p:nvSpPr>
          <p:cNvPr id="20" name="">
            <a:extLst xmlns:a="http://schemas.openxmlformats.org/drawingml/2006/main">
              <a:ext uri="{FF2B5EF4-FFF2-40B4-BE49-F238E27FC236}">
                <a16:creationId xmlns:a16="http://schemas.microsoft.com/office/drawing/2014/main" id="{6CD3F33D-E06F-44B4-825D-1536514B0BC7}"/>
              </a:ext>
            </a:extLst>
          </p:cNvPr>
          <p:cNvSpPr>
            <a:spLocks xmlns:a="http://schemas.openxmlformats.org/drawingml/2006/main" noGrp="1"/>
          </p:cNvSpPr>
          <p:nvPr/>
        </p:nvSpPr>
        <p:spPr>
          <a:xfrm xmlns:a="http://schemas.openxmlformats.org/drawingml/2006/main">
            <a:off x="8420100" y="3571875"/>
            <a:ext cx="3067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55D69"/>
                </a:solidFill>
                <a:latin typeface="Helvetica Neue"/>
                <a:ea typeface="Helvetica Neue"/>
                <a:cs typeface="Helvetica Neue"/>
              </a:defRPr>
            </a:pPr>
            <a:r>
              <a:rPr sz="1575" b="0" i="0">
                <a:solidFill>
                  <a:srgbClr val="555D69"/>
                </a:solidFill>
                <a:latin typeface="Helvetica Neue"/>
                <a:ea typeface="Helvetica Neue"/>
                <a:cs typeface="Helvetica Neue"/>
              </a:rPr>
              <a:t>Publish category, time window, and editorial context. Omit source identifiers.</a:t>
            </a:r>
          </a:p>
        </p:txBody>
      </p:sp>
      <p:sp>
        <p:nvSpPr>
          <p:cNvPr id="21" name="">
            <a:extLst xmlns:a="http://schemas.openxmlformats.org/drawingml/2006/main">
              <a:ext uri="{FF2B5EF4-FFF2-40B4-BE49-F238E27FC236}">
                <a16:creationId xmlns:a16="http://schemas.microsoft.com/office/drawing/2014/main" id="{946BE011-8CED-447F-A944-5B09CEDA7C1A}"/>
              </a:ext>
            </a:extLst>
          </p:cNvPr>
          <p:cNvSpPr>
            <a:spLocks xmlns:a="http://schemas.openxmlformats.org/drawingml/2006/main" noGrp="1"/>
          </p:cNvSpPr>
          <p:nvPr/>
        </p:nvSpPr>
        <p:spPr>
          <a:xfrm xmlns:a="http://schemas.openxmlformats.org/drawingml/2006/main">
            <a:off x="1047750" y="53149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325" b="1" i="0">
                <a:solidFill>
                  <a:srgbClr val="185D9D"/>
                </a:solidFill>
                <a:latin typeface="Helvetica Neue"/>
                <a:ea typeface="Helvetica Neue"/>
                <a:cs typeface="Helvetica Neue"/>
              </a:defRPr>
            </a:pPr>
            <a:r>
              <a:rPr sz="2325" b="1" i="0">
                <a:solidFill>
                  <a:srgbClr val="185D9D"/>
                </a:solidFill>
                <a:latin typeface="Helvetica Neue"/>
                <a:ea typeface="Helvetica Neue"/>
                <a:cs typeface="Helvetica Neue"/>
              </a:rPr>
              <a:t>Richer evidence requires a logged legal or accountability process.</a:t>
            </a:r>
          </a:p>
        </p:txBody>
      </p:sp>
      <p:sp>
        <p:nvSpPr>
          <p:cNvPr id="23" name="ISOPE required footer">
            <a:extLst xmlns:a="http://schemas.openxmlformats.org/drawingml/2006/main">
              <a:ext uri="{FF2B5EF4-FFF2-40B4-BE49-F238E27FC236}">
                <a16:creationId xmlns:a16="http://schemas.microsoft.com/office/drawing/2014/main" id="{8F1ADFF1-B0FC-4A1D-9714-2734F16749AC}"/>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350361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9-title">
            <a:extLst xmlns:a="http://schemas.openxmlformats.org/drawingml/2006/main">
              <a:ext uri="{FF2B5EF4-FFF2-40B4-BE49-F238E27FC236}">
                <a16:creationId xmlns:a16="http://schemas.microsoft.com/office/drawing/2014/main" id="{3FF2B793-B423-429F-B99A-B549442772B8}"/>
              </a:ext>
            </a:extLst>
          </p:cNvPr>
          <p:cNvSpPr>
            <a:spLocks xmlns:a="http://schemas.openxmlformats.org/drawingml/2006/main" noGrp="1"/>
          </p:cNvSpPr>
          <p:nvPr/>
        </p:nvSpPr>
        <p:spPr>
          <a:xfrm xmlns:a="http://schemas.openxmlformats.org/drawingml/2006/main">
            <a:off x="390525" y="323850"/>
            <a:ext cx="1141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0" i="0">
                <a:solidFill>
                  <a:srgbClr val="111318"/>
                </a:solidFill>
                <a:latin typeface="Helvetica Neue"/>
                <a:ea typeface="Helvetica Neue"/>
                <a:cs typeface="Helvetica Neue"/>
              </a:defRPr>
            </a:pPr>
            <a:r>
              <a:rPr sz="3600" b="0" i="0">
                <a:solidFill>
                  <a:srgbClr val="111318"/>
                </a:solidFill>
                <a:latin typeface="Helvetica Neue"/>
                <a:ea typeface="Helvetica Neue"/>
                <a:cs typeface="Helvetica Neue"/>
              </a:rPr>
              <a:t>Provenance when resharing on open internet</a:t>
            </a:r>
          </a:p>
        </p:txBody>
      </p:sp>
      <p:sp>
        <p:nvSpPr>
          <p:cNvPr id="2" name="">
            <a:extLst xmlns:a="http://schemas.openxmlformats.org/drawingml/2006/main">
              <a:ext uri="{FF2B5EF4-FFF2-40B4-BE49-F238E27FC236}">
                <a16:creationId xmlns:a16="http://schemas.microsoft.com/office/drawing/2014/main" id="{C23BCCC3-9713-4AB8-96A5-39C346032E5E}"/>
              </a:ext>
            </a:extLst>
          </p:cNvPr>
          <p:cNvSpPr>
            <a:spLocks xmlns:a="http://schemas.openxmlformats.org/drawingml/2006/main" noGrp="1"/>
          </p:cNvSpPr>
          <p:nvPr/>
        </p:nvSpPr>
        <p:spPr>
          <a:xfrm xmlns:a="http://schemas.openxmlformats.org/drawingml/2006/main">
            <a:off x="390525" y="1133475"/>
            <a:ext cx="11410950" cy="953"/>
          </a:xfrm>
          <a:prstGeom xmlns:a="http://schemas.openxmlformats.org/drawingml/2006/main" prst="line">
            <a:avLst/>
          </a:prstGeom>
          <a:noFill xmlns:a="http://schemas.openxmlformats.org/drawingml/2006/main"/>
          <a:ln xmlns:a="http://schemas.openxmlformats.org/drawingml/2006/main" w="9525">
            <a:solidFill>
              <a:srgbClr val="BBC3CC"/>
            </a:solidFill>
            <a:prstDash val="solid"/>
          </a:ln>
        </p:spPr>
      </p:sp>
      <p:sp>
        <p:nvSpPr>
          <p:cNvPr id="3" name="slide-9-number">
            <a:extLst xmlns:a="http://schemas.openxmlformats.org/drawingml/2006/main">
              <a:ext uri="{FF2B5EF4-FFF2-40B4-BE49-F238E27FC236}">
                <a16:creationId xmlns:a16="http://schemas.microsoft.com/office/drawing/2014/main" id="{D3D12977-73E7-4BB6-AD93-A7ECDB421A13}"/>
              </a:ext>
            </a:extLst>
          </p:cNvPr>
          <p:cNvSpPr>
            <a:spLocks xmlns:a="http://schemas.openxmlformats.org/drawingml/2006/main" noGrp="1"/>
          </p:cNvSpPr>
          <p:nvPr/>
        </p:nvSpPr>
        <p:spPr>
          <a:xfrm xmlns:a="http://schemas.openxmlformats.org/drawingml/2006/main">
            <a:off x="11277600" y="645795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125" b="0" i="0">
                <a:solidFill>
                  <a:srgbClr val="555D69"/>
                </a:solidFill>
                <a:latin typeface="Helvetica Neue"/>
                <a:ea typeface="Helvetica Neue"/>
                <a:cs typeface="Helvetica Neue"/>
              </a:defRPr>
            </a:pPr>
            <a:r>
              <a:rPr sz="1125" b="0" i="0">
                <a:solidFill>
                  <a:srgbClr val="555D69"/>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F8339C4F-797C-4DDC-B248-9E7A84A3B2D0}"/>
              </a:ext>
            </a:extLst>
          </p:cNvPr>
          <p:cNvSpPr>
            <a:spLocks xmlns:a="http://schemas.openxmlformats.org/drawingml/2006/main" noGrp="1"/>
          </p:cNvSpPr>
          <p:nvPr/>
        </p:nvSpPr>
        <p:spPr>
          <a:xfrm xmlns:a="http://schemas.openxmlformats.org/drawingml/2006/main">
            <a:off x="390525" y="1333500"/>
            <a:ext cx="11410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93816"/>
          </a:bodyPr>
          <a:lstStyle xmlns:a="http://schemas.openxmlformats.org/drawingml/2006/main"/>
          <a:p xmlns:a="http://schemas.openxmlformats.org/drawingml/2006/main">
            <a:pPr algn="l">
              <a:buNone/>
              <a:defRPr sz="1650" b="0" i="0">
                <a:solidFill>
                  <a:srgbClr val="555D69"/>
                </a:solidFill>
                <a:latin typeface="Helvetica Neue"/>
                <a:ea typeface="Helvetica Neue"/>
                <a:cs typeface="Helvetica Neue"/>
              </a:defRPr>
            </a:pPr>
            <a:r>
              <a:rPr sz="1650" b="0" i="0">
                <a:solidFill>
                  <a:srgbClr val="555D69"/>
                </a:solidFill>
                <a:latin typeface="Helvetica Neue"/>
                <a:ea typeface="Helvetica Neue"/>
                <a:cs typeface="Helvetica Neue"/>
              </a:rPr>
              <a:t>Platforms inherit users’ privacy expectations. Unknown viewers receive a public minimum while richer evidence remains restricted.</a:t>
            </a:r>
          </a:p>
        </p:txBody>
      </p:sp>
      <p:sp>
        <p:nvSpPr>
          <p:cNvPr id="5" name="">
            <a:extLst xmlns:a="http://schemas.openxmlformats.org/drawingml/2006/main">
              <a:ext uri="{FF2B5EF4-FFF2-40B4-BE49-F238E27FC236}">
                <a16:creationId xmlns:a16="http://schemas.microsoft.com/office/drawing/2014/main" id="{A37869E1-9B9D-4D96-8850-B7EFA1056883}"/>
              </a:ext>
            </a:extLst>
          </p:cNvPr>
          <p:cNvSpPr>
            <a:spLocks xmlns:a="http://schemas.openxmlformats.org/drawingml/2006/main" noGrp="1"/>
          </p:cNvSpPr>
          <p:nvPr/>
        </p:nvSpPr>
        <p:spPr>
          <a:xfrm xmlns:a="http://schemas.openxmlformats.org/drawingml/2006/main">
            <a:off x="1571625" y="3095625"/>
            <a:ext cx="9048750" cy="953"/>
          </a:xfrm>
          <a:prstGeom xmlns:a="http://schemas.openxmlformats.org/drawingml/2006/main" prst="line">
            <a:avLst/>
          </a:prstGeom>
          <a:noFill xmlns:a="http://schemas.openxmlformats.org/drawingml/2006/main"/>
          <a:ln xmlns:a="http://schemas.openxmlformats.org/drawingml/2006/main" w="38100">
            <a:solidFill>
              <a:srgbClr val="BBC3CC"/>
            </a:solidFill>
            <a:prstDash val="solid"/>
          </a:ln>
        </p:spPr>
      </p:sp>
      <p:sp>
        <p:nvSpPr>
          <p:cNvPr id="6" name="">
            <a:extLst xmlns:a="http://schemas.openxmlformats.org/drawingml/2006/main">
              <a:ext uri="{FF2B5EF4-FFF2-40B4-BE49-F238E27FC236}">
                <a16:creationId xmlns:a16="http://schemas.microsoft.com/office/drawing/2014/main" id="{72B6975C-F679-42BD-BCFA-E1710ADA14B3}"/>
              </a:ext>
            </a:extLst>
          </p:cNvPr>
          <p:cNvSpPr>
            <a:spLocks xmlns:a="http://schemas.openxmlformats.org/drawingml/2006/main" noGrp="1"/>
          </p:cNvSpPr>
          <p:nvPr/>
        </p:nvSpPr>
        <p:spPr>
          <a:xfrm xmlns:a="http://schemas.openxmlformats.org/drawingml/2006/main">
            <a:off x="476250" y="2095500"/>
            <a:ext cx="3524250" cy="2619375"/>
          </a:xfrm>
          <a:prstGeom xmlns:a="http://schemas.openxmlformats.org/drawingml/2006/main" prst="rect">
            <a:avLst/>
          </a:prstGeom>
          <a:solidFill xmlns:a="http://schemas.openxmlformats.org/drawingml/2006/main">
            <a:srgbClr val="FFFFFF"/>
          </a:solidFill>
          <a:ln xmlns:a="http://schemas.openxmlformats.org/drawingml/2006/main" w="9525">
            <a:solidFill>
              <a:srgbClr val="BBC3CC"/>
            </a:solidFill>
            <a:prstDash val="solid"/>
          </a:ln>
        </p:spPr>
      </p:sp>
      <p:sp>
        <p:nvSpPr>
          <p:cNvPr id="7" name="">
            <a:extLst xmlns:a="http://schemas.openxmlformats.org/drawingml/2006/main">
              <a:ext uri="{FF2B5EF4-FFF2-40B4-BE49-F238E27FC236}">
                <a16:creationId xmlns:a16="http://schemas.microsoft.com/office/drawing/2014/main" id="{A1A0F8E1-B577-4B58-BAE5-D59EBEFBB728}"/>
              </a:ext>
            </a:extLst>
          </p:cNvPr>
          <p:cNvSpPr>
            <a:spLocks xmlns:a="http://schemas.openxmlformats.org/drawingml/2006/main" noGrp="1"/>
          </p:cNvSpPr>
          <p:nvPr/>
        </p:nvSpPr>
        <p:spPr>
          <a:xfrm xmlns:a="http://schemas.openxmlformats.org/drawingml/2006/main">
            <a:off x="476250" y="2095500"/>
            <a:ext cx="3524250" cy="133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2B8DD8D-567E-4BFE-9DC1-FA629B6AAA92}"/>
              </a:ext>
            </a:extLst>
          </p:cNvPr>
          <p:cNvSpPr>
            <a:spLocks xmlns:a="http://schemas.openxmlformats.org/drawingml/2006/main" noGrp="1"/>
          </p:cNvSpPr>
          <p:nvPr/>
        </p:nvSpPr>
        <p:spPr>
          <a:xfrm xmlns:a="http://schemas.openxmlformats.org/drawingml/2006/main">
            <a:off x="704850" y="24765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PUBLIC PROOF</a:t>
            </a:r>
          </a:p>
        </p:txBody>
      </p:sp>
      <p:sp>
        <p:nvSpPr>
          <p:cNvPr id="9" name="">
            <a:extLst xmlns:a="http://schemas.openxmlformats.org/drawingml/2006/main">
              <a:ext uri="{FF2B5EF4-FFF2-40B4-BE49-F238E27FC236}">
                <a16:creationId xmlns:a16="http://schemas.microsoft.com/office/drawing/2014/main" id="{755755C0-CE7A-48D4-AD75-DE1E9FC6D807}"/>
              </a:ext>
            </a:extLst>
          </p:cNvPr>
          <p:cNvSpPr>
            <a:spLocks xmlns:a="http://schemas.openxmlformats.org/drawingml/2006/main" noGrp="1"/>
          </p:cNvSpPr>
          <p:nvPr/>
        </p:nvSpPr>
        <p:spPr>
          <a:xfrm xmlns:a="http://schemas.openxmlformats.org/drawingml/2006/main">
            <a:off x="704850" y="29337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318"/>
                </a:solidFill>
                <a:latin typeface="Helvetica Neue"/>
                <a:ea typeface="Helvetica Neue"/>
                <a:cs typeface="Helvetica Neue"/>
              </a:defRPr>
            </a:pPr>
            <a:r>
              <a:rPr sz="2100" b="1" i="0">
                <a:solidFill>
                  <a:srgbClr val="111318"/>
                </a:solidFill>
                <a:latin typeface="Helvetica Neue"/>
                <a:ea typeface="Helvetica Neue"/>
                <a:cs typeface="Helvetica Neue"/>
              </a:rPr>
              <a:t>Portable or recoverable</a:t>
            </a:r>
          </a:p>
        </p:txBody>
      </p:sp>
      <p:sp>
        <p:nvSpPr>
          <p:cNvPr id="10" name="">
            <a:extLst xmlns:a="http://schemas.openxmlformats.org/drawingml/2006/main">
              <a:ext uri="{FF2B5EF4-FFF2-40B4-BE49-F238E27FC236}">
                <a16:creationId xmlns:a16="http://schemas.microsoft.com/office/drawing/2014/main" id="{0F4DD502-C219-499C-9ACF-2A830D643B64}"/>
              </a:ext>
            </a:extLst>
          </p:cNvPr>
          <p:cNvSpPr>
            <a:spLocks xmlns:a="http://schemas.openxmlformats.org/drawingml/2006/main" noGrp="1"/>
          </p:cNvSpPr>
          <p:nvPr/>
        </p:nvSpPr>
        <p:spPr>
          <a:xfrm xmlns:a="http://schemas.openxmlformats.org/drawingml/2006/main">
            <a:off x="704850" y="3571875"/>
            <a:ext cx="3067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55D69"/>
                </a:solidFill>
                <a:latin typeface="Helvetica Neue"/>
                <a:ea typeface="Helvetica Neue"/>
                <a:cs typeface="Helvetica Neue"/>
              </a:defRPr>
            </a:pPr>
            <a:r>
              <a:rPr sz="1575" b="0" i="0">
                <a:solidFill>
                  <a:srgbClr val="555D69"/>
                </a:solidFill>
                <a:latin typeface="Helvetica Neue"/>
                <a:ea typeface="Helvetica Neue"/>
                <a:cs typeface="Helvetica Neue"/>
              </a:rPr>
              <a:t>A narrow, publisher-validated claim that travels with the media.</a:t>
            </a:r>
          </a:p>
        </p:txBody>
      </p:sp>
      <p:sp>
        <p:nvSpPr>
          <p:cNvPr id="11" name="">
            <a:extLst xmlns:a="http://schemas.openxmlformats.org/drawingml/2006/main">
              <a:ext uri="{FF2B5EF4-FFF2-40B4-BE49-F238E27FC236}">
                <a16:creationId xmlns:a16="http://schemas.microsoft.com/office/drawing/2014/main" id="{74ACFAA6-83B9-46D5-888A-C900DFA43509}"/>
              </a:ext>
            </a:extLst>
          </p:cNvPr>
          <p:cNvSpPr>
            <a:spLocks xmlns:a="http://schemas.openxmlformats.org/drawingml/2006/main" noGrp="1"/>
          </p:cNvSpPr>
          <p:nvPr/>
        </p:nvSpPr>
        <p:spPr>
          <a:xfrm xmlns:a="http://schemas.openxmlformats.org/drawingml/2006/main">
            <a:off x="4333875" y="2095500"/>
            <a:ext cx="3524250" cy="2619375"/>
          </a:xfrm>
          <a:prstGeom xmlns:a="http://schemas.openxmlformats.org/drawingml/2006/main" prst="rect">
            <a:avLst/>
          </a:prstGeom>
          <a:solidFill xmlns:a="http://schemas.openxmlformats.org/drawingml/2006/main">
            <a:srgbClr val="FFFFFF"/>
          </a:solidFill>
          <a:ln xmlns:a="http://schemas.openxmlformats.org/drawingml/2006/main" w="9525">
            <a:solidFill>
              <a:srgbClr val="BBC3CC"/>
            </a:solidFill>
            <a:prstDash val="solid"/>
          </a:ln>
        </p:spPr>
      </p:sp>
      <p:sp>
        <p:nvSpPr>
          <p:cNvPr id="12" name="">
            <a:extLst xmlns:a="http://schemas.openxmlformats.org/drawingml/2006/main">
              <a:ext uri="{FF2B5EF4-FFF2-40B4-BE49-F238E27FC236}">
                <a16:creationId xmlns:a16="http://schemas.microsoft.com/office/drawing/2014/main" id="{8A9F5BC5-A829-41EC-83A9-83E9EBE96093}"/>
              </a:ext>
            </a:extLst>
          </p:cNvPr>
          <p:cNvSpPr>
            <a:spLocks xmlns:a="http://schemas.openxmlformats.org/drawingml/2006/main" noGrp="1"/>
          </p:cNvSpPr>
          <p:nvPr/>
        </p:nvSpPr>
        <p:spPr>
          <a:xfrm xmlns:a="http://schemas.openxmlformats.org/drawingml/2006/main">
            <a:off x="4333875" y="2095500"/>
            <a:ext cx="3524250" cy="133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F6F504-48B2-42CF-AA31-D26483DD8BCA}"/>
              </a:ext>
            </a:extLst>
          </p:cNvPr>
          <p:cNvSpPr>
            <a:spLocks xmlns:a="http://schemas.openxmlformats.org/drawingml/2006/main" noGrp="1"/>
          </p:cNvSpPr>
          <p:nvPr/>
        </p:nvSpPr>
        <p:spPr>
          <a:xfrm xmlns:a="http://schemas.openxmlformats.org/drawingml/2006/main">
            <a:off x="4562475" y="24765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RESTRICTED EVIDENCE</a:t>
            </a:r>
          </a:p>
        </p:txBody>
      </p:sp>
      <p:sp>
        <p:nvSpPr>
          <p:cNvPr id="14" name="">
            <a:extLst xmlns:a="http://schemas.openxmlformats.org/drawingml/2006/main">
              <a:ext uri="{FF2B5EF4-FFF2-40B4-BE49-F238E27FC236}">
                <a16:creationId xmlns:a16="http://schemas.microsoft.com/office/drawing/2014/main" id="{F91AEA35-1C3F-40BE-A917-27148CF4111F}"/>
              </a:ext>
            </a:extLst>
          </p:cNvPr>
          <p:cNvSpPr>
            <a:spLocks xmlns:a="http://schemas.openxmlformats.org/drawingml/2006/main" noGrp="1"/>
          </p:cNvSpPr>
          <p:nvPr/>
        </p:nvSpPr>
        <p:spPr>
          <a:xfrm xmlns:a="http://schemas.openxmlformats.org/drawingml/2006/main">
            <a:off x="4562475" y="29337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318"/>
                </a:solidFill>
                <a:latin typeface="Helvetica Neue"/>
                <a:ea typeface="Helvetica Neue"/>
                <a:cs typeface="Helvetica Neue"/>
              </a:defRPr>
            </a:pPr>
            <a:r>
              <a:rPr sz="2100" b="1" i="0">
                <a:solidFill>
                  <a:srgbClr val="111318"/>
                </a:solidFill>
                <a:latin typeface="Helvetica Neue"/>
                <a:ea typeface="Helvetica Neue"/>
                <a:cs typeface="Helvetica Neue"/>
              </a:rPr>
              <a:t>Restricted by purpose</a:t>
            </a:r>
          </a:p>
        </p:txBody>
      </p:sp>
      <p:sp>
        <p:nvSpPr>
          <p:cNvPr id="15" name="">
            <a:extLst xmlns:a="http://schemas.openxmlformats.org/drawingml/2006/main">
              <a:ext uri="{FF2B5EF4-FFF2-40B4-BE49-F238E27FC236}">
                <a16:creationId xmlns:a16="http://schemas.microsoft.com/office/drawing/2014/main" id="{A61F9F1D-1326-4C09-869E-4AD1B6D1FA73}"/>
              </a:ext>
            </a:extLst>
          </p:cNvPr>
          <p:cNvSpPr>
            <a:spLocks xmlns:a="http://schemas.openxmlformats.org/drawingml/2006/main" noGrp="1"/>
          </p:cNvSpPr>
          <p:nvPr/>
        </p:nvSpPr>
        <p:spPr>
          <a:xfrm xmlns:a="http://schemas.openxmlformats.org/drawingml/2006/main">
            <a:off x="4562475" y="3571875"/>
            <a:ext cx="3067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55D69"/>
                </a:solidFill>
                <a:latin typeface="Helvetica Neue"/>
                <a:ea typeface="Helvetica Neue"/>
                <a:cs typeface="Helvetica Neue"/>
              </a:defRPr>
            </a:pPr>
            <a:r>
              <a:rPr sz="1575" b="0" i="0">
                <a:solidFill>
                  <a:srgbClr val="555D69"/>
                </a:solidFill>
                <a:latin typeface="Helvetica Neue"/>
                <a:ea typeface="Helvetica Neue"/>
                <a:cs typeface="Helvetica Neue"/>
              </a:rPr>
              <a:t>Rich provenance stays with the creator or a trusted data store until an authorized request.</a:t>
            </a:r>
          </a:p>
        </p:txBody>
      </p:sp>
      <p:sp>
        <p:nvSpPr>
          <p:cNvPr id="16" name="">
            <a:extLst xmlns:a="http://schemas.openxmlformats.org/drawingml/2006/main">
              <a:ext uri="{FF2B5EF4-FFF2-40B4-BE49-F238E27FC236}">
                <a16:creationId xmlns:a16="http://schemas.microsoft.com/office/drawing/2014/main" id="{F8AB33F1-E5DA-4286-B1F7-9457F44C619C}"/>
              </a:ext>
            </a:extLst>
          </p:cNvPr>
          <p:cNvSpPr>
            <a:spLocks xmlns:a="http://schemas.openxmlformats.org/drawingml/2006/main" noGrp="1"/>
          </p:cNvSpPr>
          <p:nvPr/>
        </p:nvSpPr>
        <p:spPr>
          <a:xfrm xmlns:a="http://schemas.openxmlformats.org/drawingml/2006/main">
            <a:off x="8191500" y="2095500"/>
            <a:ext cx="3524250" cy="2619375"/>
          </a:xfrm>
          <a:prstGeom xmlns:a="http://schemas.openxmlformats.org/drawingml/2006/main" prst="rect">
            <a:avLst/>
          </a:prstGeom>
          <a:solidFill xmlns:a="http://schemas.openxmlformats.org/drawingml/2006/main">
            <a:srgbClr val="FFFFFF"/>
          </a:solidFill>
          <a:ln xmlns:a="http://schemas.openxmlformats.org/drawingml/2006/main" w="9525">
            <a:solidFill>
              <a:srgbClr val="BBC3CC"/>
            </a:solidFill>
            <a:prstDash val="solid"/>
          </a:ln>
        </p:spPr>
      </p:sp>
      <p:sp>
        <p:nvSpPr>
          <p:cNvPr id="17" name="">
            <a:extLst xmlns:a="http://schemas.openxmlformats.org/drawingml/2006/main">
              <a:ext uri="{FF2B5EF4-FFF2-40B4-BE49-F238E27FC236}">
                <a16:creationId xmlns:a16="http://schemas.microsoft.com/office/drawing/2014/main" id="{84C2F7AC-C03A-4132-BFE3-0C2643B22C23}"/>
              </a:ext>
            </a:extLst>
          </p:cNvPr>
          <p:cNvSpPr>
            <a:spLocks xmlns:a="http://schemas.openxmlformats.org/drawingml/2006/main" noGrp="1"/>
          </p:cNvSpPr>
          <p:nvPr/>
        </p:nvSpPr>
        <p:spPr>
          <a:xfrm xmlns:a="http://schemas.openxmlformats.org/drawingml/2006/main">
            <a:off x="8191500" y="2095500"/>
            <a:ext cx="3524250" cy="133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A9D2600-24F0-4E68-8F9E-3D86255CE30A}"/>
              </a:ext>
            </a:extLst>
          </p:cNvPr>
          <p:cNvSpPr>
            <a:spLocks xmlns:a="http://schemas.openxmlformats.org/drawingml/2006/main" noGrp="1"/>
          </p:cNvSpPr>
          <p:nvPr/>
        </p:nvSpPr>
        <p:spPr>
          <a:xfrm xmlns:a="http://schemas.openxmlformats.org/drawingml/2006/main">
            <a:off x="8420100" y="24765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185D9D"/>
                </a:solidFill>
                <a:latin typeface="Helvetica Neue"/>
                <a:ea typeface="Helvetica Neue"/>
                <a:cs typeface="Helvetica Neue"/>
              </a:defRPr>
            </a:pPr>
            <a:r>
              <a:rPr sz="1200" b="1" i="0">
                <a:solidFill>
                  <a:srgbClr val="185D9D"/>
                </a:solidFill>
                <a:latin typeface="Helvetica Neue"/>
                <a:ea typeface="Helvetica Neue"/>
                <a:cs typeface="Helvetica Neue"/>
              </a:rPr>
              <a:t>RELAY BEHAVIOR</a:t>
            </a:r>
          </a:p>
        </p:txBody>
      </p:sp>
      <p:sp>
        <p:nvSpPr>
          <p:cNvPr id="19" name="">
            <a:extLst xmlns:a="http://schemas.openxmlformats.org/drawingml/2006/main">
              <a:ext uri="{FF2B5EF4-FFF2-40B4-BE49-F238E27FC236}">
                <a16:creationId xmlns:a16="http://schemas.microsoft.com/office/drawing/2014/main" id="{9EC54F62-6059-4CB0-9B4D-7A5E637856C1}"/>
              </a:ext>
            </a:extLst>
          </p:cNvPr>
          <p:cNvSpPr>
            <a:spLocks xmlns:a="http://schemas.openxmlformats.org/drawingml/2006/main" noGrp="1"/>
          </p:cNvSpPr>
          <p:nvPr/>
        </p:nvSpPr>
        <p:spPr>
          <a:xfrm xmlns:a="http://schemas.openxmlformats.org/drawingml/2006/main">
            <a:off x="8420100" y="29337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318"/>
                </a:solidFill>
                <a:latin typeface="Helvetica Neue"/>
                <a:ea typeface="Helvetica Neue"/>
                <a:cs typeface="Helvetica Neue"/>
              </a:defRPr>
            </a:pPr>
            <a:r>
              <a:rPr sz="2100" b="1" i="0">
                <a:solidFill>
                  <a:srgbClr val="111318"/>
                </a:solidFill>
                <a:latin typeface="Helvetica Neue"/>
                <a:ea typeface="Helvetica Neue"/>
                <a:cs typeface="Helvetica Neue"/>
              </a:rPr>
              <a:t>Preserve or attest again</a:t>
            </a:r>
          </a:p>
        </p:txBody>
      </p:sp>
      <p:sp>
        <p:nvSpPr>
          <p:cNvPr id="20" name="">
            <a:extLst xmlns:a="http://schemas.openxmlformats.org/drawingml/2006/main">
              <a:ext uri="{FF2B5EF4-FFF2-40B4-BE49-F238E27FC236}">
                <a16:creationId xmlns:a16="http://schemas.microsoft.com/office/drawing/2014/main" id="{6CD3F33D-E06F-44B4-825D-1536514B0BC7}"/>
              </a:ext>
            </a:extLst>
          </p:cNvPr>
          <p:cNvSpPr>
            <a:spLocks xmlns:a="http://schemas.openxmlformats.org/drawingml/2006/main" noGrp="1"/>
          </p:cNvSpPr>
          <p:nvPr/>
        </p:nvSpPr>
        <p:spPr>
          <a:xfrm xmlns:a="http://schemas.openxmlformats.org/drawingml/2006/main">
            <a:off x="8420100" y="3571875"/>
            <a:ext cx="3067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55D69"/>
                </a:solidFill>
                <a:latin typeface="Helvetica Neue"/>
                <a:ea typeface="Helvetica Neue"/>
                <a:cs typeface="Helvetica Neue"/>
              </a:defRPr>
            </a:pPr>
            <a:r>
              <a:rPr sz="1575" b="0" i="0">
                <a:solidFill>
                  <a:srgbClr val="555D69"/>
                </a:solidFill>
                <a:latin typeface="Helvetica Neue"/>
                <a:ea typeface="Helvetica Neue"/>
                <a:cs typeface="Helvetica Neue"/>
              </a:rPr>
              <a:t>Platforms must not broaden upstream disclosure when they transform or repost content.</a:t>
            </a:r>
          </a:p>
        </p:txBody>
      </p:sp>
      <p:sp>
        <p:nvSpPr>
          <p:cNvPr id="23" name="ISOPE required footer">
            <a:extLst xmlns:a="http://schemas.openxmlformats.org/drawingml/2006/main">
              <a:ext uri="{FF2B5EF4-FFF2-40B4-BE49-F238E27FC236}">
                <a16:creationId xmlns:a16="http://schemas.microsoft.com/office/drawing/2014/main" id="{E4B26412-7538-4E10-92D2-ACDA0B152CD9}"/>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a:solidFill>
                  <a:srgbClr val="555D69"/>
                </a:solidFill>
                <a:latin typeface="Calibri"/>
                <a:ea typeface="Calibri"/>
                <a:cs typeface="Calibri"/>
              </a:defRPr>
            </a:pPr>
            <a:r>
              <a:rPr sz="140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350361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E1AF40-46D0-41A2-9111-DF4835F7D1B8}"/>
              </a:ext>
            </a:extLst>
          </p:cNvPr>
          <p:cNvSpPr>
            <a:spLocks xmlns:a="http://schemas.openxmlformats.org/drawingml/2006/main" noGrp="1"/>
          </p:cNvSpPr>
          <p:nvPr/>
        </p:nvSpPr>
        <p:spPr>
          <a:xfrm xmlns:a="http://schemas.openxmlformats.org/drawingml/2006/main">
            <a:off x="390525" y="4953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3EBD75AB-8B6E-4EE8-BD22-ED6B8A1AC7BF}"/>
              </a:ext>
            </a:extLst>
          </p:cNvPr>
          <p:cNvSpPr>
            <a:spLocks xmlns:a="http://schemas.openxmlformats.org/drawingml/2006/main" noGrp="1"/>
          </p:cNvSpPr>
          <p:nvPr/>
        </p:nvSpPr>
        <p:spPr>
          <a:xfrm xmlns:a="http://schemas.openxmlformats.org/drawingml/2006/main">
            <a:off x="390525" y="1714500"/>
            <a:ext cx="10287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6000" b="0" i="0">
                <a:solidFill>
                  <a:srgbClr val="111318"/>
                </a:solidFill>
                <a:latin typeface="Helvetica Neue"/>
                <a:ea typeface="Helvetica Neue"/>
                <a:cs typeface="Helvetica Neue"/>
              </a:defRPr>
            </a:pPr>
            <a:r>
              <a:rPr sz="6000" b="0" i="0">
                <a:solidFill>
                  <a:srgbClr val="111318"/>
                </a:solidFill>
                <a:latin typeface="Helvetica Neue"/>
                <a:ea typeface="Helvetica Neue"/>
                <a:cs typeface="Helvetica Neue"/>
              </a:rPr>
              <a:t>Prove what matters.</a:t>
            </a:r>
          </a:p>
          <a:p xmlns:a="http://schemas.openxmlformats.org/drawingml/2006/main">
            <a:pPr algn="l">
              <a:buNone/>
              <a:defRPr sz="6000" b="0" i="0">
                <a:solidFill>
                  <a:srgbClr val="111318"/>
                </a:solidFill>
                <a:latin typeface="Helvetica Neue"/>
                <a:ea typeface="Helvetica Neue"/>
                <a:cs typeface="Helvetica Neue"/>
              </a:defRPr>
            </a:pPr>
            <a:r>
              <a:rPr sz="6000" b="0" i="0">
                <a:solidFill>
                  <a:srgbClr val="111318"/>
                </a:solidFill>
                <a:latin typeface="Helvetica Neue"/>
                <a:ea typeface="Helvetica Neue"/>
                <a:cs typeface="Helvetica Neue"/>
              </a:rPr>
              <a:t>Reveal no more.</a:t>
            </a:r>
          </a:p>
        </p:txBody>
      </p:sp>
      <p:sp>
        <p:nvSpPr>
          <p:cNvPr id="3" name="">
            <a:extLst xmlns:a="http://schemas.openxmlformats.org/drawingml/2006/main">
              <a:ext uri="{FF2B5EF4-FFF2-40B4-BE49-F238E27FC236}">
                <a16:creationId xmlns:a16="http://schemas.microsoft.com/office/drawing/2014/main" id="{70FAB83C-057D-4715-9B50-01EE48A6D509}"/>
              </a:ext>
            </a:extLst>
          </p:cNvPr>
          <p:cNvSpPr>
            <a:spLocks xmlns:a="http://schemas.openxmlformats.org/drawingml/2006/main" noGrp="1"/>
          </p:cNvSpPr>
          <p:nvPr/>
        </p:nvSpPr>
        <p:spPr>
          <a:xfrm xmlns:a="http://schemas.openxmlformats.org/drawingml/2006/main">
            <a:off x="390525" y="4333875"/>
            <a:ext cx="2857500" cy="953"/>
          </a:xfrm>
          <a:prstGeom xmlns:a="http://schemas.openxmlformats.org/drawingml/2006/main" prst="line">
            <a:avLst/>
          </a:prstGeom>
          <a:noFill xmlns:a="http://schemas.openxmlformats.org/drawingml/2006/main"/>
          <a:ln xmlns:a="http://schemas.openxmlformats.org/drawingml/2006/main" w="57150">
            <a:solidFill>
              <a:srgbClr val="3D8DFF"/>
            </a:solidFill>
            <a:prstDash val="solid"/>
          </a:ln>
        </p:spPr>
      </p:sp>
      <p:sp>
        <p:nvSpPr>
          <p:cNvPr id="4" name="">
            <a:extLst xmlns:a="http://schemas.openxmlformats.org/drawingml/2006/main">
              <a:ext uri="{FF2B5EF4-FFF2-40B4-BE49-F238E27FC236}">
                <a16:creationId xmlns:a16="http://schemas.microsoft.com/office/drawing/2014/main" id="{08EA5423-38E9-45BC-ADEE-256A69CC3476}"/>
              </a:ext>
            </a:extLst>
          </p:cNvPr>
          <p:cNvSpPr>
            <a:spLocks xmlns:a="http://schemas.openxmlformats.org/drawingml/2006/main" noGrp="1"/>
          </p:cNvSpPr>
          <p:nvPr/>
        </p:nvSpPr>
        <p:spPr>
          <a:xfrm xmlns:a="http://schemas.openxmlformats.org/drawingml/2006/main">
            <a:off x="390525" y="4686300"/>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buNone/>
              <a:defRPr sz="2700" b="0" i="0">
                <a:solidFill>
                  <a:srgbClr val="111318"/>
                </a:solidFill>
                <a:latin typeface="Helvetica Neue"/>
                <a:ea typeface="Helvetica Neue"/>
                <a:cs typeface="Helvetica Neue"/>
              </a:defRPr>
            </a:pPr>
            <a:r>
              <a:rPr sz="2700" b="0" i="0">
                <a:solidFill>
                  <a:srgbClr val="111318"/>
                </a:solidFill>
                <a:latin typeface="Helvetica Neue"/>
                <a:ea typeface="Helvetica Neue"/>
                <a:cs typeface="Helvetica Neue"/>
              </a:rPr>
              <a:t>Validate the full record privately.</a:t>
            </a:r>
          </a:p>
          <a:p xmlns:a="http://schemas.openxmlformats.org/drawingml/2006/main">
            <a:pPr algn="l">
              <a:buNone/>
              <a:defRPr sz="2700" b="0" i="0">
                <a:solidFill>
                  <a:srgbClr val="111318"/>
                </a:solidFill>
                <a:latin typeface="Helvetica Neue"/>
                <a:ea typeface="Helvetica Neue"/>
                <a:cs typeface="Helvetica Neue"/>
              </a:defRPr>
            </a:pPr>
            <a:r>
              <a:rPr sz="2700" b="0" i="0">
                <a:solidFill>
                  <a:srgbClr val="111318"/>
                </a:solidFill>
                <a:latin typeface="Helvetica Neue"/>
                <a:ea typeface="Helvetica Neue"/>
                <a:cs typeface="Helvetica Neue"/>
              </a:rPr>
              <a:t>Disclose the minimum claim for the context.</a:t>
            </a:r>
          </a:p>
          <a:p xmlns:a="http://schemas.openxmlformats.org/drawingml/2006/main">
            <a:pPr algn="l">
              <a:buNone/>
              <a:defRPr sz="2700" b="0" i="0">
                <a:solidFill>
                  <a:srgbClr val="111318"/>
                </a:solidFill>
                <a:latin typeface="Helvetica Neue"/>
                <a:ea typeface="Helvetica Neue"/>
                <a:cs typeface="Helvetica Neue"/>
              </a:defRPr>
            </a:pPr>
            <a:r>
              <a:rPr sz="2700" b="0" i="0">
                <a:solidFill>
                  <a:srgbClr val="111318"/>
                </a:solidFill>
                <a:latin typeface="Helvetica Neue"/>
                <a:ea typeface="Helvetica Neue"/>
                <a:cs typeface="Helvetica Neue"/>
              </a:rPr>
              <a:t>Propagate only through a governed process.</a:t>
            </a:r>
          </a:p>
        </p:txBody>
      </p:sp>
      <p:sp>
        <p:nvSpPr>
          <p:cNvPr id="5" name="">
            <a:extLst xmlns:a="http://schemas.openxmlformats.org/drawingml/2006/main">
              <a:ext uri="{FF2B5EF4-FFF2-40B4-BE49-F238E27FC236}">
                <a16:creationId xmlns:a16="http://schemas.microsoft.com/office/drawing/2014/main" id="{D0C145B1-6E66-4D98-AE40-B1EA22CA266A}"/>
              </a:ext>
            </a:extLst>
          </p:cNvPr>
          <p:cNvSpPr>
            <a:spLocks xmlns:a="http://schemas.openxmlformats.org/drawingml/2006/main" noGrp="1"/>
          </p:cNvSpPr>
          <p:nvPr/>
        </p:nvSpPr>
        <p:spPr>
          <a:xfrm xmlns:a="http://schemas.openxmlformats.org/drawingml/2006/main">
            <a:off x="390525" y="64579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8214"/>
          </a:bodyPr>
          <a:lstStyle xmlns:a="http://schemas.openxmlformats.org/drawingml/2006/main"/>
          <a:p xmlns:a="http://schemas.openxmlformats.org/drawingml/2006/main">
            <a:pPr algn="l">
              <a:buNone/>
              <a:defRPr sz="1400" b="0" i="0">
                <a:solidFill>
                  <a:srgbClr val="555D69"/>
                </a:solidFill>
                <a:latin typeface="Calibri"/>
                <a:ea typeface="Calibri"/>
                <a:cs typeface="Calibri"/>
              </a:defRPr>
            </a:pPr>
            <a:r>
              <a:rPr sz="1400" b="0" i="0">
                <a:solidFill>
                  <a:srgbClr val="555D69"/>
                </a:solidFill>
                <a:latin typeface="Calibri"/>
                <a:ea typeface="Calibri"/>
                <a:cs typeface="Calibri"/>
              </a:rPr>
              <a:t>IEEE Symposium on Privacy Expectations (ISoPE) 2026</a:t>
            </a:r>
          </a:p>
        </p:txBody>
      </p:sp>
    </p:spTree>
    <p:extLst>
      <p:ext uri="{BB962C8B-B14F-4D97-AF65-F5344CB8AC3E}">
        <p14:creationId xmlns:p14="http://schemas.microsoft.com/office/powerpoint/2010/main" val="10606633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2026-09-17T06:43:22.5490000Z</dcterms:created>
  <dcterms:modified xsi:type="dcterms:W3CDTF">2026-09-17T06:43:22.5490000Z</dcterms:modified>
</coreProperties>
</file>